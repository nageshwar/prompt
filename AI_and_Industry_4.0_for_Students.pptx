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80160"/>
            <a:ext cx="10362895" cy="4389120"/>
          </a:xfrm>
          <a:prstGeom prst="rect">
            <a:avLst/>
          </a:prstGeom>
          <a:noFill/>
        </p:spPr>
        <p:txBody>
          <a:bodyPr wrap="square">
            <a:spAutoFit/>
          </a:bodyPr>
          <a:lstStyle/>
          <a:p>
            <a:pPr algn="ctr">
              <a:spcAft>
                <a:spcPts val="1400"/>
              </a:spcAft>
              <a:defRPr sz="1300" b="1">
                <a:solidFill>
                  <a:srgbClr val="3498DB"/>
                </a:solidFill>
                <a:latin typeface="Segoe UI"/>
              </a:defRPr>
            </a:pPr>
            <a:r>
              <a:t>HANDS-ON INTERACTIVE WORKSHOP</a:t>
            </a:r>
          </a:p>
          <a:p>
            <a:pPr algn="ctr">
              <a:spcAft>
                <a:spcPts val="1600"/>
              </a:spcAft>
              <a:defRPr sz="3600" b="1">
                <a:solidFill>
                  <a:srgbClr val="FFFFFF"/>
                </a:solidFill>
                <a:latin typeface="Segoe UI"/>
              </a:defRPr>
            </a:pPr>
            <a:r>
              <a:t>AI &amp; Industry 4.0 Tools for Students</a:t>
            </a:r>
          </a:p>
          <a:p>
            <a:pPr algn="ctr">
              <a:spcAft>
                <a:spcPts val="2800"/>
              </a:spcAft>
              <a:defRPr sz="1800">
                <a:solidFill>
                  <a:srgbClr val="ECF0F1"/>
                </a:solidFill>
                <a:latin typeface="Segoe UI"/>
              </a:defRPr>
            </a:pPr>
            <a:r>
              <a:t>Mastering 10 Prompt Frameworks, Local AI (Ollama), &amp; Zero-Cost Campus Automation with n8n</a:t>
            </a:r>
          </a:p>
          <a:p>
            <a:pPr algn="ctr">
              <a:defRPr sz="1300">
                <a:solidFill>
                  <a:srgbClr val="BDC3C7"/>
                </a:solidFill>
                <a:latin typeface="Segoe UI"/>
              </a:defRPr>
            </a:pPr>
            <a:r>
              <a:t>⚡ Zero Cloud API Costs  •  🔒 100% Local Privacy  •  🎓 Practical College Portal (SSM) Use Cases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51560"/>
          </a:xfrm>
          <a:prstGeom prst="rect">
            <a:avLst/>
          </a:prstGeom>
          <a:noFill/>
        </p:spPr>
        <p:txBody>
          <a:bodyPr wrap="square" lIns="0" tIns="0" rIns="0" bIns="0">
            <a:spAutoFit/>
          </a:bodyPr>
          <a:lstStyle/>
          <a:p>
            <a:pPr>
              <a:spcAft>
                <a:spcPts val="200"/>
              </a:spcAft>
              <a:defRPr sz="950" b="1">
                <a:solidFill>
                  <a:srgbClr val="3498DB"/>
                </a:solidFill>
                <a:latin typeface="Segoe UI"/>
              </a:defRPr>
            </a:pPr>
            <a:r>
              <a:t>AI &amp; INDUSTRY 4.0 TOOLS FOR STUDENTS</a:t>
            </a:r>
          </a:p>
          <a:p>
            <a:pPr>
              <a:spcAft>
                <a:spcPts val="200"/>
              </a:spcAft>
              <a:defRPr sz="2100" b="1">
                <a:solidFill>
                  <a:srgbClr val="2C3E50"/>
                </a:solidFill>
                <a:latin typeface="Segoe UI"/>
              </a:defRPr>
            </a:pPr>
            <a:r>
              <a:t>What is Industry 4.0? (A Student's Perspective)</a:t>
            </a:r>
          </a:p>
          <a:p>
            <a:pPr>
              <a:defRPr sz="1100">
                <a:solidFill>
                  <a:srgbClr val="7F8C8D"/>
                </a:solidFill>
                <a:latin typeface="Segoe UI"/>
              </a:defRPr>
            </a:pPr>
            <a:r>
              <a:t>Bridging physical college life with smart automation</a:t>
            </a:r>
          </a:p>
        </p:txBody>
      </p:sp>
      <p:sp>
        <p:nvSpPr>
          <p:cNvPr id="4" name="Rectangle 3"/>
          <p:cNvSpPr/>
          <p:nvPr/>
        </p:nvSpPr>
        <p:spPr>
          <a:xfrm>
            <a:off x="731520" y="1353312"/>
            <a:ext cx="10728655" cy="36576"/>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F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none" lIns="0" tIns="0" rIns="0" bIns="0">
            <a:spAutoFit/>
          </a:bodyPr>
          <a:lstStyle/>
          <a:p>
            <a:pPr>
              <a:defRPr sz="900">
                <a:solidFill>
                  <a:srgbClr val="7F8C8D"/>
                </a:solidFill>
                <a:latin typeface="Segoe UI"/>
              </a:defRPr>
            </a:pPr>
            <a:r>
              <a:t>AI &amp; Industry 4.0 Workshop  |  Prompt Frameworks &amp; Local Automation  •  Slide 2 of 35</a:t>
            </a:r>
          </a:p>
        </p:txBody>
      </p:sp>
      <p:sp>
        <p:nvSpPr>
          <p:cNvPr id="7" name="Rounded Rectangle 6"/>
          <p:cNvSpPr/>
          <p:nvPr/>
        </p:nvSpPr>
        <p:spPr>
          <a:xfrm>
            <a:off x="731520" y="1508760"/>
            <a:ext cx="10728655" cy="777240"/>
          </a:xfrm>
          <a:prstGeom prst="roundRect">
            <a:avLst/>
          </a:prstGeom>
          <a:solidFill>
            <a:srgbClr val="F8F9FA"/>
          </a:solidFill>
          <a:ln w="1905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72768"/>
            <a:ext cx="10362895" cy="685800"/>
          </a:xfrm>
          <a:prstGeom prst="rect">
            <a:avLst/>
          </a:prstGeom>
          <a:noFill/>
        </p:spPr>
        <p:txBody>
          <a:bodyPr wrap="square">
            <a:spAutoFit/>
          </a:bodyPr>
          <a:lstStyle/>
          <a:p>
            <a:pPr>
              <a:defRPr sz="1100">
                <a:solidFill>
                  <a:srgbClr val="2C3E50"/>
                </a:solidFill>
                <a:latin typeface="Segoe UI"/>
              </a:defRPr>
            </a:pPr>
            <a:r>
              <a:t>Industry 4.0 isn't just for massive car factories—it connects physical sensors, real-time data, and automated AI reasoning. In your daily student life, Industry 4.0 moves campus systems from manual tasks to autonomous coordination:</a:t>
            </a:r>
          </a:p>
        </p:txBody>
      </p:sp>
      <p:sp>
        <p:nvSpPr>
          <p:cNvPr id="9" name="Rounded Rectangle 8"/>
          <p:cNvSpPr/>
          <p:nvPr/>
        </p:nvSpPr>
        <p:spPr>
          <a:xfrm>
            <a:off x="731520" y="2423160"/>
            <a:ext cx="5212080" cy="3840480"/>
          </a:xfrm>
          <a:prstGeom prst="roundRect">
            <a:avLst/>
          </a:prstGeom>
          <a:solidFill>
            <a:srgbClr val="F8F9FA"/>
          </a:solidFill>
          <a:ln w="1905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606040"/>
            <a:ext cx="4663440" cy="3474720"/>
          </a:xfrm>
          <a:prstGeom prst="rect">
            <a:avLst/>
          </a:prstGeom>
          <a:noFill/>
        </p:spPr>
        <p:txBody>
          <a:bodyPr wrap="square">
            <a:spAutoFit/>
          </a:bodyPr>
          <a:lstStyle/>
          <a:p>
            <a:pPr>
              <a:spcAft>
                <a:spcPts val="1000"/>
              </a:spcAft>
              <a:defRPr sz="1500" b="1">
                <a:solidFill>
                  <a:srgbClr val="E74C3C"/>
                </a:solidFill>
                <a:latin typeface="Segoe UI"/>
              </a:defRPr>
            </a:pPr>
            <a:r>
              <a:t>🏛️ Traditional Campus (Manual &amp; Reactive)</a:t>
            </a:r>
          </a:p>
          <a:p>
            <a:pPr>
              <a:spcAft>
                <a:spcPts val="600"/>
              </a:spcAft>
              <a:defRPr sz="1100">
                <a:solidFill>
                  <a:srgbClr val="2C3E50"/>
                </a:solidFill>
                <a:latin typeface="Segoe UI"/>
              </a:defRPr>
            </a:pPr>
            <a:r>
              <a:t>• Walking repeatedly to physical notice boards to check for exam routine circulars.</a:t>
            </a:r>
          </a:p>
          <a:p>
            <a:pPr>
              <a:spcAft>
                <a:spcPts val="600"/>
              </a:spcAft>
              <a:defRPr sz="1100">
                <a:solidFill>
                  <a:srgbClr val="2C3E50"/>
                </a:solidFill>
                <a:latin typeface="Segoe UI"/>
              </a:defRPr>
            </a:pPr>
            <a:r>
              <a:t>• Walking to dorm laundry rooms only to find all washing machines occupied.</a:t>
            </a:r>
          </a:p>
          <a:p>
            <a:pPr>
              <a:spcAft>
                <a:spcPts val="600"/>
              </a:spcAft>
              <a:defRPr sz="1100">
                <a:solidFill>
                  <a:srgbClr val="2C3E50"/>
                </a:solidFill>
                <a:latin typeface="Segoe UI"/>
              </a:defRPr>
            </a:pPr>
            <a:r>
              <a:t>• Manually drafting emails to professors across endless fragmented threads.</a:t>
            </a:r>
          </a:p>
          <a:p>
            <a:pPr>
              <a:spcAft>
                <a:spcPts val="600"/>
              </a:spcAft>
              <a:defRPr sz="1100">
                <a:solidFill>
                  <a:srgbClr val="2C3E50"/>
                </a:solidFill>
                <a:latin typeface="Segoe UI"/>
              </a:defRPr>
            </a:pPr>
            <a:r>
              <a:t>• Checking multiple portals for exam form deadlines, fee cutoffs, and results manually.</a:t>
            </a:r>
          </a:p>
        </p:txBody>
      </p:sp>
      <p:sp>
        <p:nvSpPr>
          <p:cNvPr id="11" name="Rounded Rectangle 10"/>
          <p:cNvSpPr/>
          <p:nvPr/>
        </p:nvSpPr>
        <p:spPr>
          <a:xfrm>
            <a:off x="6217920" y="2423160"/>
            <a:ext cx="5212080" cy="3840480"/>
          </a:xfrm>
          <a:prstGeom prst="roundRect">
            <a:avLst/>
          </a:prstGeom>
          <a:solidFill>
            <a:srgbClr val="F8F9FA"/>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2606040"/>
            <a:ext cx="4663440" cy="3474720"/>
          </a:xfrm>
          <a:prstGeom prst="rect">
            <a:avLst/>
          </a:prstGeom>
          <a:noFill/>
        </p:spPr>
        <p:txBody>
          <a:bodyPr wrap="square">
            <a:spAutoFit/>
          </a:bodyPr>
          <a:lstStyle/>
          <a:p>
            <a:pPr>
              <a:spcAft>
                <a:spcPts val="1000"/>
              </a:spcAft>
              <a:defRPr sz="1500" b="1">
                <a:solidFill>
                  <a:srgbClr val="27AE60"/>
                </a:solidFill>
                <a:latin typeface="Segoe UI"/>
              </a:defRPr>
            </a:pPr>
            <a:r>
              <a:t>🚀 Industry 4.0 Campus (Connected &amp; Autonomous)</a:t>
            </a:r>
          </a:p>
          <a:p>
            <a:pPr>
              <a:spcAft>
                <a:spcPts val="600"/>
              </a:spcAft>
              <a:defRPr sz="1100">
                <a:solidFill>
                  <a:srgbClr val="2C3E50"/>
                </a:solidFill>
                <a:latin typeface="Segoe UI"/>
              </a:defRPr>
            </a:pPr>
            <a:r>
              <a:t>• Smart Notice Board Radar automatically scrapes the portal and pings Telegram.</a:t>
            </a:r>
          </a:p>
          <a:p>
            <a:pPr>
              <a:spcAft>
                <a:spcPts val="600"/>
              </a:spcAft>
              <a:defRPr sz="1100">
                <a:solidFill>
                  <a:srgbClr val="2C3E50"/>
                </a:solidFill>
                <a:latin typeface="Segoe UI"/>
              </a:defRPr>
            </a:pPr>
            <a:r>
              <a:t>• IoT vibration sensors monitor machines and notify your phone 5 mins before cycle ends.</a:t>
            </a:r>
          </a:p>
          <a:p>
            <a:pPr>
              <a:spcAft>
                <a:spcPts val="600"/>
              </a:spcAft>
              <a:defRPr sz="1100">
                <a:solidFill>
                  <a:srgbClr val="2C3E50"/>
                </a:solidFill>
                <a:latin typeface="Segoe UI"/>
              </a:defRPr>
            </a:pPr>
            <a:r>
              <a:t>• AI agents parse course syllabi, extract assignments, and auto-sync to Google Calendar.</a:t>
            </a:r>
          </a:p>
          <a:p>
            <a:pPr>
              <a:spcAft>
                <a:spcPts val="600"/>
              </a:spcAft>
              <a:defRPr sz="1100">
                <a:solidFill>
                  <a:srgbClr val="2C3E50"/>
                </a:solidFill>
                <a:latin typeface="Segoe UI"/>
              </a:defRPr>
            </a:pPr>
            <a:r>
              <a:t>• Automated bots watch for Vidyasagar University marksheet links and alert group chats instantly.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51560"/>
          </a:xfrm>
          <a:prstGeom prst="rect">
            <a:avLst/>
          </a:prstGeom>
          <a:noFill/>
        </p:spPr>
        <p:txBody>
          <a:bodyPr wrap="square" lIns="0" tIns="0" rIns="0" bIns="0">
            <a:spAutoFit/>
          </a:bodyPr>
          <a:lstStyle/>
          <a:p>
            <a:pPr>
              <a:spcAft>
                <a:spcPts val="200"/>
              </a:spcAft>
              <a:defRPr sz="950" b="1">
                <a:solidFill>
                  <a:srgbClr val="3498DB"/>
                </a:solidFill>
                <a:latin typeface="Segoe UI"/>
              </a:defRPr>
            </a:pPr>
            <a:r>
              <a:t>AI &amp; INDUSTRY 4.0 FOR STUDENTS</a:t>
            </a:r>
          </a:p>
          <a:p>
            <a:pPr>
              <a:spcAft>
                <a:spcPts val="400"/>
              </a:spcAft>
              <a:defRPr sz="2100" b="1">
                <a:solidFill>
                  <a:srgbClr val="2C3E50"/>
                </a:solidFill>
                <a:latin typeface="Segoe UI"/>
              </a:defRPr>
            </a:pPr>
            <a:r>
              <a:t>What is an AI Agent? (Chatbot vs. Autonomous Agent)</a:t>
            </a:r>
          </a:p>
        </p:txBody>
      </p:sp>
      <p:sp>
        <p:nvSpPr>
          <p:cNvPr id="4" name="Rectangle 3"/>
          <p:cNvSpPr/>
          <p:nvPr/>
        </p:nvSpPr>
        <p:spPr>
          <a:xfrm>
            <a:off x="731520" y="1353312"/>
            <a:ext cx="10728655" cy="36576"/>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F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none" lIns="0" tIns="0" rIns="0" bIns="0">
            <a:spAutoFit/>
          </a:bodyPr>
          <a:lstStyle/>
          <a:p>
            <a:pPr>
              <a:defRPr sz="900">
                <a:solidFill>
                  <a:srgbClr val="7F8C8D"/>
                </a:solidFill>
                <a:latin typeface="Segoe UI"/>
              </a:defRPr>
            </a:pPr>
            <a:r>
              <a:t>AI &amp; Industry 4.0 Workshop  |  Prompt Frameworks &amp; Local Automation  •  Slide 3 of 35</a:t>
            </a:r>
          </a:p>
        </p:txBody>
      </p:sp>
      <p:sp>
        <p:nvSpPr>
          <p:cNvPr id="7" name="Rounded Rectangle 6"/>
          <p:cNvSpPr/>
          <p:nvPr/>
        </p:nvSpPr>
        <p:spPr>
          <a:xfrm>
            <a:off x="731520" y="1536192"/>
            <a:ext cx="5212080" cy="4617720"/>
          </a:xfrm>
          <a:prstGeom prst="roundRect">
            <a:avLst/>
          </a:prstGeom>
          <a:solidFill>
            <a:srgbClr val="F8F9FA"/>
          </a:solidFill>
          <a:ln w="19050">
            <a:solidFill>
              <a:srgbClr val="2C3E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719072"/>
            <a:ext cx="4663440" cy="4251960"/>
          </a:xfrm>
          <a:prstGeom prst="rect">
            <a:avLst/>
          </a:prstGeom>
          <a:noFill/>
        </p:spPr>
        <p:txBody>
          <a:bodyPr wrap="square">
            <a:spAutoFit/>
          </a:bodyPr>
          <a:lstStyle/>
          <a:p>
            <a:pPr>
              <a:spcAft>
                <a:spcPts val="1200"/>
              </a:spcAft>
              <a:defRPr sz="1500" b="1">
                <a:solidFill>
                  <a:srgbClr val="2C3E50"/>
                </a:solidFill>
                <a:latin typeface="Segoe UI"/>
              </a:defRPr>
            </a:pPr>
            <a:r>
              <a:t>💬 Standard Chatbot (Passive Responder)</a:t>
            </a:r>
          </a:p>
          <a:p>
            <a:pPr>
              <a:spcAft>
                <a:spcPts val="800"/>
              </a:spcAft>
              <a:defRPr sz="1100">
                <a:solidFill>
                  <a:srgbClr val="2C3E50"/>
                </a:solidFill>
                <a:latin typeface="Segoe UI"/>
              </a:defRPr>
            </a:pPr>
            <a:r>
              <a:t>• Waiting: Sits passively waiting for a human to type into a prompt box.</a:t>
            </a:r>
          </a:p>
          <a:p>
            <a:pPr>
              <a:spcAft>
                <a:spcPts val="800"/>
              </a:spcAft>
              <a:defRPr sz="1100">
                <a:solidFill>
                  <a:srgbClr val="2C3E50"/>
                </a:solidFill>
                <a:latin typeface="Segoe UI"/>
              </a:defRPr>
            </a:pPr>
            <a:r>
              <a:t>• Isolated: Has no connection to tools, calendars, email, or live college web pages.</a:t>
            </a:r>
          </a:p>
          <a:p>
            <a:pPr>
              <a:spcAft>
                <a:spcPts val="800"/>
              </a:spcAft>
              <a:defRPr sz="1100">
                <a:solidFill>
                  <a:srgbClr val="2C3E50"/>
                </a:solidFill>
                <a:latin typeface="Segoe UI"/>
              </a:defRPr>
            </a:pPr>
            <a:r>
              <a:t>• Static Words: Generates helpful text, but cannot execute actual actions.</a:t>
            </a:r>
          </a:p>
          <a:p>
            <a:pPr>
              <a:spcAft>
                <a:spcPts val="800"/>
              </a:spcAft>
              <a:defRPr sz="1100">
                <a:solidFill>
                  <a:srgbClr val="2C3E50"/>
                </a:solidFill>
                <a:latin typeface="Segoe UI"/>
              </a:defRPr>
            </a:pPr>
            <a:r>
              <a:t>• Analogy: Like asking an advisor a question in office hours—informative, but you still have to do all the work.</a:t>
            </a:r>
          </a:p>
        </p:txBody>
      </p:sp>
      <p:sp>
        <p:nvSpPr>
          <p:cNvPr id="9" name="Rounded Rectangle 8"/>
          <p:cNvSpPr/>
          <p:nvPr/>
        </p:nvSpPr>
        <p:spPr>
          <a:xfrm>
            <a:off x="6217920" y="1536192"/>
            <a:ext cx="5212080" cy="4617720"/>
          </a:xfrm>
          <a:prstGeom prst="roundRect">
            <a:avLst/>
          </a:prstGeom>
          <a:solidFill>
            <a:srgbClr val="F8F9FA"/>
          </a:solidFill>
          <a:ln w="1905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719072"/>
            <a:ext cx="4663440" cy="4251960"/>
          </a:xfrm>
          <a:prstGeom prst="rect">
            <a:avLst/>
          </a:prstGeom>
          <a:noFill/>
        </p:spPr>
        <p:txBody>
          <a:bodyPr wrap="square">
            <a:spAutoFit/>
          </a:bodyPr>
          <a:lstStyle/>
          <a:p>
            <a:pPr>
              <a:spcAft>
                <a:spcPts val="1200"/>
              </a:spcAft>
              <a:defRPr sz="1500" b="1">
                <a:solidFill>
                  <a:srgbClr val="3498DB"/>
                </a:solidFill>
                <a:latin typeface="Segoe UI"/>
              </a:defRPr>
            </a:pPr>
            <a:r>
              <a:t>🤖 Autonomous AI Agent (Perceive, Reason, Act)</a:t>
            </a:r>
          </a:p>
          <a:p>
            <a:pPr>
              <a:spcAft>
                <a:spcPts val="800"/>
              </a:spcAft>
              <a:defRPr sz="1100">
                <a:solidFill>
                  <a:srgbClr val="2C3E50"/>
                </a:solidFill>
                <a:latin typeface="Segoe UI"/>
              </a:defRPr>
            </a:pPr>
            <a:r>
              <a:t>• Perceive: Continuously monitors web pages, webhooks, RSS feeds, or sensors.</a:t>
            </a:r>
          </a:p>
          <a:p>
            <a:pPr>
              <a:spcAft>
                <a:spcPts val="800"/>
              </a:spcAft>
              <a:defRPr sz="1100">
                <a:solidFill>
                  <a:srgbClr val="2C3E50"/>
                </a:solidFill>
                <a:latin typeface="Segoe UI"/>
              </a:defRPr>
            </a:pPr>
            <a:r>
              <a:t>• Reason: Decides if an action is required, extracts structured data, and plans next steps.</a:t>
            </a:r>
          </a:p>
          <a:p>
            <a:pPr>
              <a:spcAft>
                <a:spcPts val="800"/>
              </a:spcAft>
              <a:defRPr sz="1100">
                <a:solidFill>
                  <a:srgbClr val="2C3E50"/>
                </a:solidFill>
                <a:latin typeface="Segoe UI"/>
              </a:defRPr>
            </a:pPr>
            <a:r>
              <a:t>• Act: Executes real tools (sends Telegram alerts, updates Google Calendar, edits Notion).</a:t>
            </a:r>
          </a:p>
          <a:p>
            <a:pPr>
              <a:spcAft>
                <a:spcPts val="800"/>
              </a:spcAft>
              <a:defRPr sz="1100">
                <a:solidFill>
                  <a:srgbClr val="2C3E50"/>
                </a:solidFill>
                <a:latin typeface="Segoe UI"/>
              </a:defRPr>
            </a:pPr>
            <a:r>
              <a:t>• Analogy: Like a diligent student assistant working 24/7 in the background for your campus life.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51560"/>
          </a:xfrm>
          <a:prstGeom prst="rect">
            <a:avLst/>
          </a:prstGeom>
          <a:noFill/>
        </p:spPr>
        <p:txBody>
          <a:bodyPr wrap="square" lIns="0" tIns="0" rIns="0" bIns="0">
            <a:spAutoFit/>
          </a:bodyPr>
          <a:lstStyle/>
          <a:p>
            <a:pPr>
              <a:spcAft>
                <a:spcPts val="200"/>
              </a:spcAft>
              <a:defRPr sz="950" b="1">
                <a:solidFill>
                  <a:srgbClr val="3498DB"/>
                </a:solidFill>
                <a:latin typeface="Segoe UI"/>
              </a:defRPr>
            </a:pPr>
            <a:r>
              <a:t>AI &amp; INDUSTRY 4.0 TOOLS FOR STUDENTS</a:t>
            </a:r>
          </a:p>
          <a:p>
            <a:pPr>
              <a:spcAft>
                <a:spcPts val="200"/>
              </a:spcAft>
              <a:defRPr sz="2100" b="1">
                <a:solidFill>
                  <a:srgbClr val="2C3E50"/>
                </a:solidFill>
                <a:latin typeface="Segoe UI"/>
              </a:defRPr>
            </a:pPr>
            <a:r>
              <a:t>The Zero-Cost Student Automation Architecture</a:t>
            </a:r>
          </a:p>
          <a:p>
            <a:pPr>
              <a:defRPr sz="1100">
                <a:solidFill>
                  <a:srgbClr val="7F8C8D"/>
                </a:solidFill>
                <a:latin typeface="Segoe UI"/>
              </a:defRPr>
            </a:pPr>
            <a:r>
              <a:t>How the 3 components connect seamlessly</a:t>
            </a:r>
          </a:p>
        </p:txBody>
      </p:sp>
      <p:sp>
        <p:nvSpPr>
          <p:cNvPr id="4" name="Rectangle 3"/>
          <p:cNvSpPr/>
          <p:nvPr/>
        </p:nvSpPr>
        <p:spPr>
          <a:xfrm>
            <a:off x="731520" y="1353312"/>
            <a:ext cx="10728655" cy="36576"/>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F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none" lIns="0" tIns="0" rIns="0" bIns="0">
            <a:spAutoFit/>
          </a:bodyPr>
          <a:lstStyle/>
          <a:p>
            <a:pPr>
              <a:defRPr sz="900">
                <a:solidFill>
                  <a:srgbClr val="7F8C8D"/>
                </a:solidFill>
                <a:latin typeface="Segoe UI"/>
              </a:defRPr>
            </a:pPr>
            <a:r>
              <a:t>AI &amp; Industry 4.0 Workshop  |  Prompt Frameworks &amp; Local Automation  •  Slide 4 of 35</a:t>
            </a:r>
          </a:p>
        </p:txBody>
      </p:sp>
      <p:sp>
        <p:nvSpPr>
          <p:cNvPr id="7" name="Rounded Rectangle 6"/>
          <p:cNvSpPr/>
          <p:nvPr/>
        </p:nvSpPr>
        <p:spPr>
          <a:xfrm>
            <a:off x="731520" y="1536192"/>
            <a:ext cx="3383280" cy="4480560"/>
          </a:xfrm>
          <a:prstGeom prst="roundRect">
            <a:avLst/>
          </a:prstGeom>
          <a:solidFill>
            <a:srgbClr val="F8F9FA"/>
          </a:solidFill>
          <a:ln w="1905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19072"/>
            <a:ext cx="3017520" cy="4114800"/>
          </a:xfrm>
          <a:prstGeom prst="rect">
            <a:avLst/>
          </a:prstGeom>
          <a:noFill/>
        </p:spPr>
        <p:txBody>
          <a:bodyPr wrap="square">
            <a:spAutoFit/>
          </a:bodyPr>
          <a:lstStyle/>
          <a:p>
            <a:pPr>
              <a:spcAft>
                <a:spcPts val="1000"/>
              </a:spcAft>
              <a:defRPr sz="1500" b="1">
                <a:solidFill>
                  <a:srgbClr val="3498DB"/>
                </a:solidFill>
                <a:latin typeface="Segoe UI"/>
              </a:defRPr>
            </a:pPr>
            <a:r>
              <a:t>1. Local AI Brain</a:t>
            </a:r>
            <a:br/>
            <a:r>
              <a:t>(Ollama)</a:t>
            </a:r>
          </a:p>
          <a:p>
            <a:pPr>
              <a:spcAft>
                <a:spcPts val="600"/>
              </a:spcAft>
              <a:defRPr sz="1050">
                <a:solidFill>
                  <a:srgbClr val="2C3E50"/>
                </a:solidFill>
                <a:latin typeface="Segoe UI"/>
              </a:defRPr>
            </a:pPr>
            <a:r>
              <a:t>• Runs models like qwen2.5:3b or llama3 locally.</a:t>
            </a:r>
          </a:p>
          <a:p>
            <a:pPr>
              <a:spcAft>
                <a:spcPts val="600"/>
              </a:spcAft>
              <a:defRPr sz="1050">
                <a:solidFill>
                  <a:srgbClr val="2C3E50"/>
                </a:solidFill>
                <a:latin typeface="Segoe UI"/>
              </a:defRPr>
            </a:pPr>
            <a:r>
              <a:t>• 0 API keys, 0 subscriptions, 100% free.</a:t>
            </a:r>
          </a:p>
          <a:p>
            <a:pPr>
              <a:spcAft>
                <a:spcPts val="600"/>
              </a:spcAft>
              <a:defRPr sz="1050">
                <a:solidFill>
                  <a:srgbClr val="2C3E50"/>
                </a:solidFill>
                <a:latin typeface="Segoe UI"/>
              </a:defRPr>
            </a:pPr>
            <a:r>
              <a:t>• Works completely offline on student laptops.</a:t>
            </a:r>
          </a:p>
          <a:p>
            <a:pPr>
              <a:spcAft>
                <a:spcPts val="600"/>
              </a:spcAft>
              <a:defRPr sz="1050">
                <a:solidFill>
                  <a:srgbClr val="2C3E50"/>
                </a:solidFill>
                <a:latin typeface="Segoe UI"/>
              </a:defRPr>
            </a:pPr>
            <a:r>
              <a:t>• Full privacy: campus notes and credentials stay on your machine.</a:t>
            </a:r>
          </a:p>
        </p:txBody>
      </p:sp>
      <p:sp>
        <p:nvSpPr>
          <p:cNvPr id="9" name="Rounded Rectangle 8"/>
          <p:cNvSpPr/>
          <p:nvPr/>
        </p:nvSpPr>
        <p:spPr>
          <a:xfrm>
            <a:off x="4389120" y="1536192"/>
            <a:ext cx="3383280" cy="4480560"/>
          </a:xfrm>
          <a:prstGeom prst="roundRect">
            <a:avLst/>
          </a:prstGeom>
          <a:solidFill>
            <a:srgbClr val="F8F9FA"/>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719072"/>
            <a:ext cx="3017520" cy="4114800"/>
          </a:xfrm>
          <a:prstGeom prst="rect">
            <a:avLst/>
          </a:prstGeom>
          <a:noFill/>
        </p:spPr>
        <p:txBody>
          <a:bodyPr wrap="square">
            <a:spAutoFit/>
          </a:bodyPr>
          <a:lstStyle/>
          <a:p>
            <a:pPr>
              <a:spcAft>
                <a:spcPts val="1000"/>
              </a:spcAft>
              <a:defRPr sz="1500" b="1">
                <a:solidFill>
                  <a:srgbClr val="9B59B6"/>
                </a:solidFill>
                <a:latin typeface="Segoe UI"/>
              </a:defRPr>
            </a:pPr>
            <a:r>
              <a:t>2. Visual Automation</a:t>
            </a:r>
            <a:br/>
            <a:r>
              <a:t>(n8n Orchestrator)</a:t>
            </a:r>
          </a:p>
          <a:p>
            <a:pPr>
              <a:spcAft>
                <a:spcPts val="600"/>
              </a:spcAft>
              <a:defRPr sz="1050">
                <a:solidFill>
                  <a:srgbClr val="2C3E50"/>
                </a:solidFill>
                <a:latin typeface="Segoe UI"/>
              </a:defRPr>
            </a:pPr>
            <a:r>
              <a:t>• Open-source visual node-based workflow engine.</a:t>
            </a:r>
          </a:p>
          <a:p>
            <a:pPr>
              <a:spcAft>
                <a:spcPts val="600"/>
              </a:spcAft>
              <a:defRPr sz="1050">
                <a:solidFill>
                  <a:srgbClr val="2C3E50"/>
                </a:solidFill>
                <a:latin typeface="Segoe UI"/>
              </a:defRPr>
            </a:pPr>
            <a:r>
              <a:t>• Launches instantly via terminal command 'npx n8n'.</a:t>
            </a:r>
          </a:p>
          <a:p>
            <a:pPr>
              <a:spcAft>
                <a:spcPts val="600"/>
              </a:spcAft>
              <a:defRPr sz="1050">
                <a:solidFill>
                  <a:srgbClr val="2C3E50"/>
                </a:solidFill>
                <a:latin typeface="Segoe UI"/>
              </a:defRPr>
            </a:pPr>
            <a:r>
              <a:t>• Connects triggers (cron schedule, webhook, scraper) to AI actions.</a:t>
            </a:r>
          </a:p>
          <a:p>
            <a:pPr>
              <a:spcAft>
                <a:spcPts val="600"/>
              </a:spcAft>
              <a:defRPr sz="1050">
                <a:solidFill>
                  <a:srgbClr val="2C3E50"/>
                </a:solidFill>
                <a:latin typeface="Segoe UI"/>
              </a:defRPr>
            </a:pPr>
            <a:r>
              <a:t>• Visual debugging: see data flow through each node live.</a:t>
            </a:r>
          </a:p>
        </p:txBody>
      </p:sp>
      <p:sp>
        <p:nvSpPr>
          <p:cNvPr id="11" name="Rounded Rectangle 10"/>
          <p:cNvSpPr/>
          <p:nvPr/>
        </p:nvSpPr>
        <p:spPr>
          <a:xfrm>
            <a:off x="8046720" y="1536192"/>
            <a:ext cx="3383280" cy="4480560"/>
          </a:xfrm>
          <a:prstGeom prst="roundRect">
            <a:avLst/>
          </a:prstGeom>
          <a:solidFill>
            <a:srgbClr val="F8F9FA"/>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1719072"/>
            <a:ext cx="3017520" cy="4114800"/>
          </a:xfrm>
          <a:prstGeom prst="rect">
            <a:avLst/>
          </a:prstGeom>
          <a:noFill/>
        </p:spPr>
        <p:txBody>
          <a:bodyPr wrap="square">
            <a:spAutoFit/>
          </a:bodyPr>
          <a:lstStyle/>
          <a:p>
            <a:pPr>
              <a:spcAft>
                <a:spcPts val="1000"/>
              </a:spcAft>
              <a:defRPr sz="1500" b="1">
                <a:solidFill>
                  <a:srgbClr val="27AE60"/>
                </a:solidFill>
                <a:latin typeface="Segoe UI"/>
              </a:defRPr>
            </a:pPr>
            <a:r>
              <a:t>3. Connected Tools</a:t>
            </a:r>
            <a:br/>
            <a:r>
              <a:t>(Channels &amp; Output)</a:t>
            </a:r>
          </a:p>
          <a:p>
            <a:pPr>
              <a:spcAft>
                <a:spcPts val="600"/>
              </a:spcAft>
              <a:defRPr sz="1050">
                <a:solidFill>
                  <a:srgbClr val="2C3E50"/>
                </a:solidFill>
                <a:latin typeface="Segoe UI"/>
              </a:defRPr>
            </a:pPr>
            <a:r>
              <a:t>• Telegram Bot API for free, instant mobile notifications.</a:t>
            </a:r>
          </a:p>
          <a:p>
            <a:pPr>
              <a:spcAft>
                <a:spcPts val="600"/>
              </a:spcAft>
              <a:defRPr sz="1050">
                <a:solidFill>
                  <a:srgbClr val="2C3E50"/>
                </a:solidFill>
                <a:latin typeface="Segoe UI"/>
              </a:defRPr>
            </a:pPr>
            <a:r>
              <a:t>• Google Calendar node for auto-scheduling exam routines.</a:t>
            </a:r>
          </a:p>
          <a:p>
            <a:pPr>
              <a:spcAft>
                <a:spcPts val="600"/>
              </a:spcAft>
              <a:defRPr sz="1050">
                <a:solidFill>
                  <a:srgbClr val="2C3E50"/>
                </a:solidFill>
                <a:latin typeface="Segoe UI"/>
              </a:defRPr>
            </a:pPr>
            <a:r>
              <a:t>• Notion or Google Sheets for logging student queries.</a:t>
            </a:r>
          </a:p>
          <a:p>
            <a:pPr>
              <a:spcAft>
                <a:spcPts val="600"/>
              </a:spcAft>
              <a:defRPr sz="1050">
                <a:solidFill>
                  <a:srgbClr val="2C3E50"/>
                </a:solidFill>
                <a:latin typeface="Segoe UI"/>
              </a:defRPr>
            </a:pPr>
            <a:r>
              <a:t>• WhatsApp Webhook for cohort group broadcasts.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51560"/>
          </a:xfrm>
          <a:prstGeom prst="rect">
            <a:avLst/>
          </a:prstGeom>
          <a:noFill/>
        </p:spPr>
        <p:txBody>
          <a:bodyPr wrap="square" lIns="0" tIns="0" rIns="0" bIns="0">
            <a:spAutoFit/>
          </a:bodyPr>
          <a:lstStyle/>
          <a:p>
            <a:pPr>
              <a:spcAft>
                <a:spcPts val="200"/>
              </a:spcAft>
              <a:defRPr sz="950" b="1">
                <a:solidFill>
                  <a:srgbClr val="3498DB"/>
                </a:solidFill>
                <a:latin typeface="Segoe UI"/>
              </a:defRPr>
            </a:pPr>
            <a:r>
              <a:t>PROMPT ENGINEERING FUNDAMENTALS</a:t>
            </a:r>
          </a:p>
          <a:p>
            <a:pPr>
              <a:spcAft>
                <a:spcPts val="400"/>
              </a:spcAft>
              <a:defRPr sz="2100" b="1">
                <a:solidFill>
                  <a:srgbClr val="2C3E50"/>
                </a:solidFill>
                <a:latin typeface="Segoe UI"/>
              </a:defRPr>
            </a:pPr>
            <a:r>
              <a:t>What is a Prompt Really? (The Intern Briefing Model)</a:t>
            </a:r>
          </a:p>
        </p:txBody>
      </p:sp>
      <p:sp>
        <p:nvSpPr>
          <p:cNvPr id="4" name="Rectangle 3"/>
          <p:cNvSpPr/>
          <p:nvPr/>
        </p:nvSpPr>
        <p:spPr>
          <a:xfrm>
            <a:off x="731520" y="1353312"/>
            <a:ext cx="10728655" cy="36576"/>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F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none" lIns="0" tIns="0" rIns="0" bIns="0">
            <a:spAutoFit/>
          </a:bodyPr>
          <a:lstStyle/>
          <a:p>
            <a:pPr>
              <a:defRPr sz="900">
                <a:solidFill>
                  <a:srgbClr val="7F8C8D"/>
                </a:solidFill>
                <a:latin typeface="Segoe UI"/>
              </a:defRPr>
            </a:pPr>
            <a:r>
              <a:t>AI &amp; Industry 4.0 Workshop  |  Prompt Frameworks &amp; Local Automation  •  Slide 5 of 35</a:t>
            </a:r>
          </a:p>
        </p:txBody>
      </p:sp>
      <p:sp>
        <p:nvSpPr>
          <p:cNvPr id="7" name="Rounded Rectangle 6"/>
          <p:cNvSpPr/>
          <p:nvPr/>
        </p:nvSpPr>
        <p:spPr>
          <a:xfrm>
            <a:off x="731520" y="1536192"/>
            <a:ext cx="5212080" cy="4617720"/>
          </a:xfrm>
          <a:prstGeom prst="roundRect">
            <a:avLst/>
          </a:prstGeom>
          <a:solidFill>
            <a:srgbClr val="F8F9FA"/>
          </a:solidFill>
          <a:ln w="1905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719072"/>
            <a:ext cx="4663440" cy="4251960"/>
          </a:xfrm>
          <a:prstGeom prst="rect">
            <a:avLst/>
          </a:prstGeom>
          <a:noFill/>
        </p:spPr>
        <p:txBody>
          <a:bodyPr wrap="square">
            <a:spAutoFit/>
          </a:bodyPr>
          <a:lstStyle/>
          <a:p>
            <a:pPr>
              <a:spcAft>
                <a:spcPts val="1200"/>
              </a:spcAft>
              <a:defRPr sz="1500" b="1">
                <a:solidFill>
                  <a:srgbClr val="E74C3C"/>
                </a:solidFill>
                <a:latin typeface="Segoe UI"/>
              </a:defRPr>
            </a:pPr>
            <a:r>
              <a:t>❌ The Google Search Habit (Keywords)</a:t>
            </a:r>
          </a:p>
          <a:p>
            <a:pPr>
              <a:spcAft>
                <a:spcPts val="800"/>
              </a:spcAft>
              <a:defRPr sz="1100">
                <a:solidFill>
                  <a:srgbClr val="2C3E50"/>
                </a:solidFill>
                <a:latin typeface="Segoe UI"/>
              </a:defRPr>
            </a:pPr>
            <a:r>
              <a:t>• Prompt: 'Email professor extension CS102'</a:t>
            </a:r>
          </a:p>
          <a:p>
            <a:pPr>
              <a:spcAft>
                <a:spcPts val="800"/>
              </a:spcAft>
              <a:defRPr sz="1100">
                <a:solidFill>
                  <a:srgbClr val="2C3E50"/>
                </a:solidFill>
                <a:latin typeface="Segoe UI"/>
              </a:defRPr>
            </a:pPr>
            <a:r>
              <a:t>• Why it fails: The AI has no clue about your identity, why you need an extension, how long of an extension you need, or what tone your department expects.</a:t>
            </a:r>
          </a:p>
          <a:p>
            <a:pPr>
              <a:spcAft>
                <a:spcPts val="800"/>
              </a:spcAft>
              <a:defRPr sz="1100">
                <a:solidFill>
                  <a:srgbClr val="2C3E50"/>
                </a:solidFill>
                <a:latin typeface="Segoe UI"/>
              </a:defRPr>
            </a:pPr>
            <a:r>
              <a:t>• Output: A generic, robotic template with [Insert Name Here] placeholders that looks sloppy and unconvincing.</a:t>
            </a:r>
          </a:p>
        </p:txBody>
      </p:sp>
      <p:sp>
        <p:nvSpPr>
          <p:cNvPr id="9" name="Rounded Rectangle 8"/>
          <p:cNvSpPr/>
          <p:nvPr/>
        </p:nvSpPr>
        <p:spPr>
          <a:xfrm>
            <a:off x="6217920" y="1536192"/>
            <a:ext cx="5212080" cy="4617720"/>
          </a:xfrm>
          <a:prstGeom prst="roundRect">
            <a:avLst/>
          </a:prstGeom>
          <a:solidFill>
            <a:srgbClr val="F8F9FA"/>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719072"/>
            <a:ext cx="4663440" cy="4251960"/>
          </a:xfrm>
          <a:prstGeom prst="rect">
            <a:avLst/>
          </a:prstGeom>
          <a:noFill/>
        </p:spPr>
        <p:txBody>
          <a:bodyPr wrap="square">
            <a:spAutoFit/>
          </a:bodyPr>
          <a:lstStyle/>
          <a:p>
            <a:pPr>
              <a:spcAft>
                <a:spcPts val="1200"/>
              </a:spcAft>
              <a:defRPr sz="1500" b="1">
                <a:solidFill>
                  <a:srgbClr val="27AE60"/>
                </a:solidFill>
                <a:latin typeface="Segoe UI"/>
              </a:defRPr>
            </a:pPr>
            <a:r>
              <a:t>✅ The Intern Briefing Model (Context &amp; Role)</a:t>
            </a:r>
          </a:p>
          <a:p>
            <a:pPr>
              <a:spcAft>
                <a:spcPts val="800"/>
              </a:spcAft>
              <a:defRPr sz="1100">
                <a:solidFill>
                  <a:srgbClr val="2C3E50"/>
                </a:solidFill>
                <a:latin typeface="Segoe UI"/>
              </a:defRPr>
            </a:pPr>
            <a:r>
              <a:t>• Mental Model: Treat the LLM as a brilliant, eager intern who has read the entire internet but has zero context on your college situation.</a:t>
            </a:r>
          </a:p>
          <a:p>
            <a:pPr>
              <a:spcAft>
                <a:spcPts val="800"/>
              </a:spcAft>
              <a:defRPr sz="1100">
                <a:solidFill>
                  <a:srgbClr val="2C3E50"/>
                </a:solidFill>
                <a:latin typeface="Segoe UI"/>
              </a:defRPr>
            </a:pPr>
            <a:r>
              <a:t>• Prompt: 'Act as a polite university student. Write a 3-sentence extension request for CS-102 assignment to Prof. Ray due to illness. Ask for 24 hours.'</a:t>
            </a:r>
          </a:p>
          <a:p>
            <a:pPr>
              <a:spcAft>
                <a:spcPts val="800"/>
              </a:spcAft>
              <a:defRPr sz="1100">
                <a:solidFill>
                  <a:srgbClr val="2C3E50"/>
                </a:solidFill>
                <a:latin typeface="Segoe UI"/>
              </a:defRPr>
            </a:pPr>
            <a:r>
              <a:t>• Output: A ready-to-send, professional note that gets approved immediately.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51560"/>
          </a:xfrm>
          <a:prstGeom prst="rect">
            <a:avLst/>
          </a:prstGeom>
          <a:noFill/>
        </p:spPr>
        <p:txBody>
          <a:bodyPr wrap="square" lIns="0" tIns="0" rIns="0" bIns="0">
            <a:spAutoFit/>
          </a:bodyPr>
          <a:lstStyle/>
          <a:p>
            <a:pPr>
              <a:spcAft>
                <a:spcPts val="200"/>
              </a:spcAft>
              <a:defRPr sz="950" b="1">
                <a:solidFill>
                  <a:srgbClr val="3498DB"/>
                </a:solidFill>
                <a:latin typeface="Segoe UI"/>
              </a:defRPr>
            </a:pPr>
            <a:r>
              <a:t>PROMPT ENGINEERING FUNDAMENTALS</a:t>
            </a:r>
          </a:p>
          <a:p>
            <a:pPr>
              <a:spcAft>
                <a:spcPts val="200"/>
              </a:spcAft>
              <a:defRPr sz="2100" b="1">
                <a:solidFill>
                  <a:srgbClr val="2C3E50"/>
                </a:solidFill>
                <a:latin typeface="Segoe UI"/>
              </a:defRPr>
            </a:pPr>
            <a:r>
              <a:t>4 Golden Rules of Effective Prompting</a:t>
            </a:r>
          </a:p>
          <a:p>
            <a:pPr>
              <a:defRPr sz="1100">
                <a:solidFill>
                  <a:srgbClr val="7F8C8D"/>
                </a:solidFill>
                <a:latin typeface="Segoe UI"/>
              </a:defRPr>
            </a:pPr>
            <a:r>
              <a:t>How to get accurate, hallucination-free outputs every time</a:t>
            </a:r>
          </a:p>
        </p:txBody>
      </p:sp>
      <p:sp>
        <p:nvSpPr>
          <p:cNvPr id="4" name="Rectangle 3"/>
          <p:cNvSpPr/>
          <p:nvPr/>
        </p:nvSpPr>
        <p:spPr>
          <a:xfrm>
            <a:off x="731520" y="1353312"/>
            <a:ext cx="10728655" cy="36576"/>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F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none" lIns="0" tIns="0" rIns="0" bIns="0">
            <a:spAutoFit/>
          </a:bodyPr>
          <a:lstStyle/>
          <a:p>
            <a:pPr>
              <a:defRPr sz="900">
                <a:solidFill>
                  <a:srgbClr val="7F8C8D"/>
                </a:solidFill>
                <a:latin typeface="Segoe UI"/>
              </a:defRPr>
            </a:pPr>
            <a:r>
              <a:t>AI &amp; Industry 4.0 Workshop  |  Prompt Frameworks &amp; Local Automation  •  Slide 6 of 35</a:t>
            </a:r>
          </a:p>
        </p:txBody>
      </p:sp>
      <p:sp>
        <p:nvSpPr>
          <p:cNvPr id="7" name="Rounded Rectangle 6"/>
          <p:cNvSpPr/>
          <p:nvPr/>
        </p:nvSpPr>
        <p:spPr>
          <a:xfrm>
            <a:off x="731520" y="1508760"/>
            <a:ext cx="10728655" cy="1051560"/>
          </a:xfrm>
          <a:prstGeom prst="roundRect">
            <a:avLst/>
          </a:prstGeom>
          <a:solidFill>
            <a:srgbClr val="F8F9FA"/>
          </a:solidFill>
          <a:ln w="1905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618488"/>
            <a:ext cx="10149840" cy="822960"/>
          </a:xfrm>
          <a:prstGeom prst="rect">
            <a:avLst/>
          </a:prstGeom>
          <a:noFill/>
        </p:spPr>
        <p:txBody>
          <a:bodyPr wrap="square">
            <a:spAutoFit/>
          </a:bodyPr>
          <a:lstStyle/>
          <a:p>
            <a:pPr>
              <a:spcAft>
                <a:spcPts val="200"/>
              </a:spcAft>
              <a:defRPr sz="1300" b="1">
                <a:solidFill>
                  <a:srgbClr val="3498DB"/>
                </a:solidFill>
                <a:latin typeface="Segoe UI"/>
              </a:defRPr>
            </a:pPr>
            <a:r>
              <a:t>1. Assign a Clear Persona</a:t>
            </a:r>
          </a:p>
          <a:p>
            <a:pPr>
              <a:defRPr sz="1050">
                <a:solidFill>
                  <a:srgbClr val="2C3E50"/>
                </a:solidFill>
                <a:latin typeface="Segoe UI"/>
              </a:defRPr>
            </a:pPr>
            <a:r>
              <a:t>Tell the AI who to be (e.g., 'Act as an academic advisor', 'Act as a junior lab assistant'). This primes vocabulary, tone, and reasoning style immediately.</a:t>
            </a:r>
          </a:p>
        </p:txBody>
      </p:sp>
      <p:sp>
        <p:nvSpPr>
          <p:cNvPr id="9" name="Rounded Rectangle 8"/>
          <p:cNvSpPr/>
          <p:nvPr/>
        </p:nvSpPr>
        <p:spPr>
          <a:xfrm>
            <a:off x="731520" y="2697480"/>
            <a:ext cx="10728655" cy="1051560"/>
          </a:xfrm>
          <a:prstGeom prst="roundRect">
            <a:avLst/>
          </a:prstGeom>
          <a:solidFill>
            <a:srgbClr val="F8F9FA"/>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807208"/>
            <a:ext cx="10149840" cy="822960"/>
          </a:xfrm>
          <a:prstGeom prst="rect">
            <a:avLst/>
          </a:prstGeom>
          <a:noFill/>
        </p:spPr>
        <p:txBody>
          <a:bodyPr wrap="square">
            <a:spAutoFit/>
          </a:bodyPr>
          <a:lstStyle/>
          <a:p>
            <a:pPr>
              <a:spcAft>
                <a:spcPts val="200"/>
              </a:spcAft>
              <a:defRPr sz="1300" b="1">
                <a:solidFill>
                  <a:srgbClr val="27AE60"/>
                </a:solidFill>
                <a:latin typeface="Segoe UI"/>
              </a:defRPr>
            </a:pPr>
            <a:r>
              <a:t>2. Provide Grounding Context</a:t>
            </a:r>
          </a:p>
          <a:p>
            <a:pPr>
              <a:defRPr sz="1050">
                <a:solidFill>
                  <a:srgbClr val="2C3E50"/>
                </a:solidFill>
                <a:latin typeface="Segoe UI"/>
              </a:defRPr>
            </a:pPr>
            <a:r>
              <a:t>Never assume the model knows your constraints. Provide the syllabus snippet, grading rubric, or exact notice text directly inside the prompt.</a:t>
            </a:r>
          </a:p>
        </p:txBody>
      </p:sp>
      <p:sp>
        <p:nvSpPr>
          <p:cNvPr id="11" name="Rounded Rectangle 10"/>
          <p:cNvSpPr/>
          <p:nvPr/>
        </p:nvSpPr>
        <p:spPr>
          <a:xfrm>
            <a:off x="731520" y="3886200"/>
            <a:ext cx="10728655" cy="1051560"/>
          </a:xfrm>
          <a:prstGeom prst="roundRect">
            <a:avLst/>
          </a:prstGeom>
          <a:solidFill>
            <a:srgbClr val="F8F9FA"/>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995928"/>
            <a:ext cx="10149840" cy="822960"/>
          </a:xfrm>
          <a:prstGeom prst="rect">
            <a:avLst/>
          </a:prstGeom>
          <a:noFill/>
        </p:spPr>
        <p:txBody>
          <a:bodyPr wrap="square">
            <a:spAutoFit/>
          </a:bodyPr>
          <a:lstStyle/>
          <a:p>
            <a:pPr>
              <a:spcAft>
                <a:spcPts val="200"/>
              </a:spcAft>
              <a:defRPr sz="1300" b="1">
                <a:solidFill>
                  <a:srgbClr val="9B59B6"/>
                </a:solidFill>
                <a:latin typeface="Segoe UI"/>
              </a:defRPr>
            </a:pPr>
            <a:r>
              <a:t>3. Show, Don't Just Tell (Few-Shot)</a:t>
            </a:r>
          </a:p>
          <a:p>
            <a:pPr>
              <a:defRPr sz="1050">
                <a:solidFill>
                  <a:srgbClr val="2C3E50"/>
                </a:solidFill>
                <a:latin typeface="Segoe UI"/>
              </a:defRPr>
            </a:pPr>
            <a:r>
              <a:t>Include 1-2 examples of input and expected output. Showing the pattern prevents 90% of formatting mistakes and hallucinations.</a:t>
            </a:r>
          </a:p>
        </p:txBody>
      </p:sp>
      <p:sp>
        <p:nvSpPr>
          <p:cNvPr id="13" name="Rounded Rectangle 12"/>
          <p:cNvSpPr/>
          <p:nvPr/>
        </p:nvSpPr>
        <p:spPr>
          <a:xfrm>
            <a:off x="731520" y="5074920"/>
            <a:ext cx="10728655" cy="1051560"/>
          </a:xfrm>
          <a:prstGeom prst="roundRect">
            <a:avLst/>
          </a:prstGeom>
          <a:solidFill>
            <a:srgbClr val="F8F9FA"/>
          </a:solidFill>
          <a:ln w="1905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184648"/>
            <a:ext cx="10149840" cy="822960"/>
          </a:xfrm>
          <a:prstGeom prst="rect">
            <a:avLst/>
          </a:prstGeom>
          <a:noFill/>
        </p:spPr>
        <p:txBody>
          <a:bodyPr wrap="square">
            <a:spAutoFit/>
          </a:bodyPr>
          <a:lstStyle/>
          <a:p>
            <a:pPr>
              <a:spcAft>
                <a:spcPts val="200"/>
              </a:spcAft>
              <a:defRPr sz="1300" b="1">
                <a:solidFill>
                  <a:srgbClr val="F39C12"/>
                </a:solidFill>
                <a:latin typeface="Segoe UI"/>
              </a:defRPr>
            </a:pPr>
            <a:r>
              <a:t>4. Enforce Output Structure</a:t>
            </a:r>
          </a:p>
          <a:p>
            <a:pPr>
              <a:defRPr sz="1050">
                <a:solidFill>
                  <a:srgbClr val="2C3E50"/>
                </a:solidFill>
                <a:latin typeface="Segoe UI"/>
              </a:defRPr>
            </a:pPr>
            <a:r>
              <a:t>Demand explicit format constraints: JSON schema with specific keys, Markdown bullet lists, or tables. Essential when feeding AI output into n8n nodes.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51560"/>
          </a:xfrm>
          <a:prstGeom prst="rect">
            <a:avLst/>
          </a:prstGeom>
          <a:noFill/>
        </p:spPr>
        <p:txBody>
          <a:bodyPr wrap="square" lIns="0" tIns="0" rIns="0" bIns="0">
            <a:spAutoFit/>
          </a:bodyPr>
          <a:lstStyle/>
          <a:p>
            <a:pPr>
              <a:spcAft>
                <a:spcPts val="200"/>
              </a:spcAft>
              <a:defRPr sz="950" b="1">
                <a:solidFill>
                  <a:srgbClr val="3498DB"/>
                </a:solidFill>
                <a:latin typeface="Segoe UI"/>
              </a:defRPr>
            </a:pPr>
            <a:r>
              <a:t>PROMPT ENGINEERING FUNDAMENTALS</a:t>
            </a:r>
          </a:p>
          <a:p>
            <a:pPr>
              <a:spcAft>
                <a:spcPts val="200"/>
              </a:spcAft>
              <a:defRPr sz="2100" b="1">
                <a:solidFill>
                  <a:srgbClr val="2C3E50"/>
                </a:solidFill>
                <a:latin typeface="Segoe UI"/>
              </a:defRPr>
            </a:pPr>
            <a:r>
              <a:t>The Prompt Building Blocks Formula</a:t>
            </a:r>
          </a:p>
          <a:p>
            <a:pPr>
              <a:defRPr sz="1100">
                <a:solidFill>
                  <a:srgbClr val="7F8C8D"/>
                </a:solidFill>
                <a:latin typeface="Segoe UI"/>
              </a:defRPr>
            </a:pPr>
            <a:r>
              <a:t>Mastering the complete structural equation</a:t>
            </a:r>
          </a:p>
        </p:txBody>
      </p:sp>
      <p:sp>
        <p:nvSpPr>
          <p:cNvPr id="4" name="Rectangle 3"/>
          <p:cNvSpPr/>
          <p:nvPr/>
        </p:nvSpPr>
        <p:spPr>
          <a:xfrm>
            <a:off x="731520" y="1353312"/>
            <a:ext cx="10728655" cy="36576"/>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F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none" lIns="0" tIns="0" rIns="0" bIns="0">
            <a:spAutoFit/>
          </a:bodyPr>
          <a:lstStyle/>
          <a:p>
            <a:pPr>
              <a:defRPr sz="900">
                <a:solidFill>
                  <a:srgbClr val="7F8C8D"/>
                </a:solidFill>
                <a:latin typeface="Segoe UI"/>
              </a:defRPr>
            </a:pPr>
            <a:r>
              <a:t>AI &amp; Industry 4.0 Workshop  |  Prompt Frameworks &amp; Local Automation  •  Slide 7 of 35</a:t>
            </a:r>
          </a:p>
        </p:txBody>
      </p:sp>
      <p:sp>
        <p:nvSpPr>
          <p:cNvPr id="7" name="Rounded Rectangle 6"/>
          <p:cNvSpPr/>
          <p:nvPr/>
        </p:nvSpPr>
        <p:spPr>
          <a:xfrm>
            <a:off x="731520" y="1508760"/>
            <a:ext cx="10728655" cy="777240"/>
          </a:xfrm>
          <a:prstGeom prst="round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72768"/>
            <a:ext cx="10362895" cy="640080"/>
          </a:xfrm>
          <a:prstGeom prst="rect">
            <a:avLst/>
          </a:prstGeom>
          <a:noFill/>
        </p:spPr>
        <p:txBody>
          <a:bodyPr wrap="square">
            <a:spAutoFit/>
          </a:bodyPr>
          <a:lstStyle/>
          <a:p>
            <a:pPr algn="ctr">
              <a:defRPr sz="1700" b="1">
                <a:solidFill>
                  <a:srgbClr val="FFFFFF"/>
                </a:solidFill>
                <a:latin typeface="Segoe UI"/>
              </a:defRPr>
            </a:pPr>
            <a:r>
              <a:t>PROMPT = Persona + Objective + Example + Format + Tone</a:t>
            </a:r>
          </a:p>
        </p:txBody>
      </p:sp>
      <p:sp>
        <p:nvSpPr>
          <p:cNvPr id="9" name="Rounded Rectangle 8"/>
          <p:cNvSpPr/>
          <p:nvPr/>
        </p:nvSpPr>
        <p:spPr>
          <a:xfrm>
            <a:off x="731520" y="2423160"/>
            <a:ext cx="2029968" cy="3749039"/>
          </a:xfrm>
          <a:prstGeom prst="roundRect">
            <a:avLst/>
          </a:prstGeom>
          <a:solidFill>
            <a:srgbClr val="F8F9FA"/>
          </a:solidFill>
          <a:ln w="1905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560320"/>
            <a:ext cx="1755648" cy="3474720"/>
          </a:xfrm>
          <a:prstGeom prst="rect">
            <a:avLst/>
          </a:prstGeom>
          <a:noFill/>
        </p:spPr>
        <p:txBody>
          <a:bodyPr wrap="square">
            <a:spAutoFit/>
          </a:bodyPr>
          <a:lstStyle/>
          <a:p>
            <a:pPr>
              <a:spcAft>
                <a:spcPts val="800"/>
              </a:spcAft>
              <a:defRPr sz="1400" b="1">
                <a:solidFill>
                  <a:srgbClr val="3498DB"/>
                </a:solidFill>
                <a:latin typeface="Segoe UI"/>
              </a:defRPr>
            </a:pPr>
            <a:r>
              <a:t>Persona</a:t>
            </a:r>
          </a:p>
          <a:p>
            <a:pPr>
              <a:spcAft>
                <a:spcPts val="800"/>
              </a:spcAft>
              <a:defRPr sz="1000">
                <a:solidFill>
                  <a:srgbClr val="2C3E50"/>
                </a:solidFill>
                <a:latin typeface="Segoe UI"/>
              </a:defRPr>
            </a:pPr>
            <a:r>
              <a:t>The role the LLM plays to perform the task.</a:t>
            </a:r>
          </a:p>
          <a:p>
            <a:pPr>
              <a:defRPr sz="900">
                <a:solidFill>
                  <a:srgbClr val="7F8C8D"/>
                </a:solidFill>
                <a:latin typeface="Segoe UI"/>
              </a:defRPr>
            </a:pPr>
            <a:r>
              <a:t>Sample:</a:t>
            </a:r>
            <a:br/>
            <a:r>
              <a:t>e.g., Campus Club President</a:t>
            </a:r>
          </a:p>
        </p:txBody>
      </p:sp>
      <p:sp>
        <p:nvSpPr>
          <p:cNvPr id="11" name="Rounded Rectangle 10"/>
          <p:cNvSpPr/>
          <p:nvPr/>
        </p:nvSpPr>
        <p:spPr>
          <a:xfrm>
            <a:off x="2907791" y="2423160"/>
            <a:ext cx="2029968" cy="3749039"/>
          </a:xfrm>
          <a:prstGeom prst="roundRect">
            <a:avLst/>
          </a:prstGeom>
          <a:solidFill>
            <a:srgbClr val="F8F9FA"/>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44951" y="2560320"/>
            <a:ext cx="1755648" cy="3474720"/>
          </a:xfrm>
          <a:prstGeom prst="rect">
            <a:avLst/>
          </a:prstGeom>
          <a:noFill/>
        </p:spPr>
        <p:txBody>
          <a:bodyPr wrap="square">
            <a:spAutoFit/>
          </a:bodyPr>
          <a:lstStyle/>
          <a:p>
            <a:pPr>
              <a:spcAft>
                <a:spcPts val="800"/>
              </a:spcAft>
              <a:defRPr sz="1400" b="1">
                <a:solidFill>
                  <a:srgbClr val="27AE60"/>
                </a:solidFill>
                <a:latin typeface="Segoe UI"/>
              </a:defRPr>
            </a:pPr>
            <a:r>
              <a:t>Objective</a:t>
            </a:r>
          </a:p>
          <a:p>
            <a:pPr>
              <a:spcAft>
                <a:spcPts val="800"/>
              </a:spcAft>
              <a:defRPr sz="1000">
                <a:solidFill>
                  <a:srgbClr val="2C3E50"/>
                </a:solidFill>
                <a:latin typeface="Segoe UI"/>
              </a:defRPr>
            </a:pPr>
            <a:r>
              <a:t>The primary goal and strict boundaries.</a:t>
            </a:r>
          </a:p>
          <a:p>
            <a:pPr>
              <a:defRPr sz="900">
                <a:solidFill>
                  <a:srgbClr val="7F8C8D"/>
                </a:solidFill>
                <a:latin typeface="Segoe UI"/>
              </a:defRPr>
            </a:pPr>
            <a:r>
              <a:t>Sample:</a:t>
            </a:r>
            <a:br/>
            <a:r>
              <a:t>e.g., Write WhatsApp recruitment copy</a:t>
            </a:r>
          </a:p>
        </p:txBody>
      </p:sp>
      <p:sp>
        <p:nvSpPr>
          <p:cNvPr id="13" name="Rounded Rectangle 12"/>
          <p:cNvSpPr/>
          <p:nvPr/>
        </p:nvSpPr>
        <p:spPr>
          <a:xfrm>
            <a:off x="5084064" y="2423160"/>
            <a:ext cx="2029968" cy="3749039"/>
          </a:xfrm>
          <a:prstGeom prst="roundRect">
            <a:avLst/>
          </a:prstGeom>
          <a:solidFill>
            <a:srgbClr val="F8F9FA"/>
          </a:solidFill>
          <a:ln w="1905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21224" y="2560320"/>
            <a:ext cx="1755648" cy="3474720"/>
          </a:xfrm>
          <a:prstGeom prst="rect">
            <a:avLst/>
          </a:prstGeom>
          <a:noFill/>
        </p:spPr>
        <p:txBody>
          <a:bodyPr wrap="square">
            <a:spAutoFit/>
          </a:bodyPr>
          <a:lstStyle/>
          <a:p>
            <a:pPr>
              <a:spcAft>
                <a:spcPts val="800"/>
              </a:spcAft>
              <a:defRPr sz="1400" b="1">
                <a:solidFill>
                  <a:srgbClr val="F39C12"/>
                </a:solidFill>
                <a:latin typeface="Segoe UI"/>
              </a:defRPr>
            </a:pPr>
            <a:r>
              <a:t>Example</a:t>
            </a:r>
          </a:p>
          <a:p>
            <a:pPr>
              <a:spcAft>
                <a:spcPts val="800"/>
              </a:spcAft>
              <a:defRPr sz="1000">
                <a:solidFill>
                  <a:srgbClr val="2C3E50"/>
                </a:solidFill>
                <a:latin typeface="Segoe UI"/>
              </a:defRPr>
            </a:pPr>
            <a:r>
              <a:t>A sample input/output pattern.</a:t>
            </a:r>
          </a:p>
          <a:p>
            <a:pPr>
              <a:defRPr sz="900">
                <a:solidFill>
                  <a:srgbClr val="7F8C8D"/>
                </a:solidFill>
                <a:latin typeface="Segoe UI"/>
              </a:defRPr>
            </a:pPr>
            <a:r>
              <a:t>Sample:</a:t>
            </a:r>
            <a:br/>
            <a:r>
              <a:t>e.g., Input/Output template</a:t>
            </a:r>
          </a:p>
        </p:txBody>
      </p:sp>
      <p:sp>
        <p:nvSpPr>
          <p:cNvPr id="15" name="Rounded Rectangle 14"/>
          <p:cNvSpPr/>
          <p:nvPr/>
        </p:nvSpPr>
        <p:spPr>
          <a:xfrm>
            <a:off x="7260336" y="2423160"/>
            <a:ext cx="2029968" cy="3749039"/>
          </a:xfrm>
          <a:prstGeom prst="roundRect">
            <a:avLst/>
          </a:prstGeom>
          <a:solidFill>
            <a:srgbClr val="F8F9FA"/>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97496" y="2560320"/>
            <a:ext cx="1755648" cy="3474720"/>
          </a:xfrm>
          <a:prstGeom prst="rect">
            <a:avLst/>
          </a:prstGeom>
          <a:noFill/>
        </p:spPr>
        <p:txBody>
          <a:bodyPr wrap="square">
            <a:spAutoFit/>
          </a:bodyPr>
          <a:lstStyle/>
          <a:p>
            <a:pPr>
              <a:spcAft>
                <a:spcPts val="800"/>
              </a:spcAft>
              <a:defRPr sz="1400" b="1">
                <a:solidFill>
                  <a:srgbClr val="9B59B6"/>
                </a:solidFill>
                <a:latin typeface="Segoe UI"/>
              </a:defRPr>
            </a:pPr>
            <a:r>
              <a:t>Format</a:t>
            </a:r>
          </a:p>
          <a:p>
            <a:pPr>
              <a:spcAft>
                <a:spcPts val="800"/>
              </a:spcAft>
              <a:defRPr sz="1000">
                <a:solidFill>
                  <a:srgbClr val="2C3E50"/>
                </a:solidFill>
                <a:latin typeface="Segoe UI"/>
              </a:defRPr>
            </a:pPr>
            <a:r>
              <a:t>The structure of the response.</a:t>
            </a:r>
          </a:p>
          <a:p>
            <a:pPr>
              <a:defRPr sz="900">
                <a:solidFill>
                  <a:srgbClr val="7F8C8D"/>
                </a:solidFill>
                <a:latin typeface="Segoe UI"/>
              </a:defRPr>
            </a:pPr>
            <a:r>
              <a:t>Sample:</a:t>
            </a:r>
            <a:br/>
            <a:r>
              <a:t>e.g., 3 bullet points + RSVP link</a:t>
            </a:r>
          </a:p>
        </p:txBody>
      </p:sp>
      <p:sp>
        <p:nvSpPr>
          <p:cNvPr id="17" name="Rounded Rectangle 16"/>
          <p:cNvSpPr/>
          <p:nvPr/>
        </p:nvSpPr>
        <p:spPr>
          <a:xfrm>
            <a:off x="9436608" y="2423160"/>
            <a:ext cx="2029968" cy="3749039"/>
          </a:xfrm>
          <a:prstGeom prst="roundRect">
            <a:avLst/>
          </a:prstGeom>
          <a:solidFill>
            <a:srgbClr val="F8F9FA"/>
          </a:solidFill>
          <a:ln w="1905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73768" y="2560320"/>
            <a:ext cx="1755648" cy="3474720"/>
          </a:xfrm>
          <a:prstGeom prst="rect">
            <a:avLst/>
          </a:prstGeom>
          <a:noFill/>
        </p:spPr>
        <p:txBody>
          <a:bodyPr wrap="square">
            <a:spAutoFit/>
          </a:bodyPr>
          <a:lstStyle/>
          <a:p>
            <a:pPr>
              <a:spcAft>
                <a:spcPts val="800"/>
              </a:spcAft>
              <a:defRPr sz="1400" b="1">
                <a:solidFill>
                  <a:srgbClr val="E74C3C"/>
                </a:solidFill>
                <a:latin typeface="Segoe UI"/>
              </a:defRPr>
            </a:pPr>
            <a:r>
              <a:t>Tone</a:t>
            </a:r>
          </a:p>
          <a:p>
            <a:pPr>
              <a:spcAft>
                <a:spcPts val="800"/>
              </a:spcAft>
              <a:defRPr sz="1000">
                <a:solidFill>
                  <a:srgbClr val="2C3E50"/>
                </a:solidFill>
                <a:latin typeface="Segoe UI"/>
              </a:defRPr>
            </a:pPr>
            <a:r>
              <a:t>The voice style of the response.</a:t>
            </a:r>
          </a:p>
          <a:p>
            <a:pPr>
              <a:defRPr sz="900">
                <a:solidFill>
                  <a:srgbClr val="7F8C8D"/>
                </a:solidFill>
                <a:latin typeface="Segoe UI"/>
              </a:defRPr>
            </a:pPr>
            <a:r>
              <a:t>Sample:</a:t>
            </a:r>
            <a:br/>
            <a:r>
              <a:t>e.g., Energetic, concise, relatable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51560"/>
          </a:xfrm>
          <a:prstGeom prst="rect">
            <a:avLst/>
          </a:prstGeom>
          <a:noFill/>
        </p:spPr>
        <p:txBody>
          <a:bodyPr wrap="square" lIns="0" tIns="0" rIns="0" bIns="0">
            <a:spAutoFit/>
          </a:bodyPr>
          <a:lstStyle/>
          <a:p>
            <a:pPr>
              <a:spcAft>
                <a:spcPts val="200"/>
              </a:spcAft>
              <a:defRPr sz="950" b="1">
                <a:solidFill>
                  <a:srgbClr val="3498DB"/>
                </a:solidFill>
                <a:latin typeface="Segoe UI"/>
              </a:defRPr>
            </a:pPr>
            <a:r>
              <a:t>PROMPT ENGINEERING FUNDAMENTALS</a:t>
            </a:r>
          </a:p>
          <a:p>
            <a:pPr>
              <a:spcAft>
                <a:spcPts val="200"/>
              </a:spcAft>
              <a:defRPr sz="2100" b="1">
                <a:solidFill>
                  <a:srgbClr val="2C3E50"/>
                </a:solidFill>
                <a:latin typeface="Segoe UI"/>
              </a:defRPr>
            </a:pPr>
            <a:r>
              <a:t>Building Blocks in Action: Campus Club Recruitment</a:t>
            </a:r>
          </a:p>
          <a:p>
            <a:pPr>
              <a:defRPr sz="1100">
                <a:solidFill>
                  <a:srgbClr val="7F8C8D"/>
                </a:solidFill>
                <a:latin typeface="Segoe UI"/>
              </a:defRPr>
            </a:pPr>
            <a:r>
              <a:t>Putting all 5 components together</a:t>
            </a:r>
          </a:p>
        </p:txBody>
      </p:sp>
      <p:sp>
        <p:nvSpPr>
          <p:cNvPr id="4" name="Rectangle 3"/>
          <p:cNvSpPr/>
          <p:nvPr/>
        </p:nvSpPr>
        <p:spPr>
          <a:xfrm>
            <a:off x="731520" y="1353312"/>
            <a:ext cx="10728655" cy="36576"/>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F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none" lIns="0" tIns="0" rIns="0" bIns="0">
            <a:spAutoFit/>
          </a:bodyPr>
          <a:lstStyle/>
          <a:p>
            <a:pPr>
              <a:defRPr sz="900">
                <a:solidFill>
                  <a:srgbClr val="7F8C8D"/>
                </a:solidFill>
                <a:latin typeface="Segoe UI"/>
              </a:defRPr>
            </a:pPr>
            <a:r>
              <a:t>AI &amp; Industry 4.0 Workshop  |  Prompt Frameworks &amp; Local Automation  •  Slide 8 of 35</a:t>
            </a:r>
          </a:p>
        </p:txBody>
      </p:sp>
      <p:sp>
        <p:nvSpPr>
          <p:cNvPr id="7" name="Rounded Rectangle 6"/>
          <p:cNvSpPr/>
          <p:nvPr/>
        </p:nvSpPr>
        <p:spPr>
          <a:xfrm>
            <a:off x="731520" y="1536192"/>
            <a:ext cx="5212080" cy="4617720"/>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4846320" cy="4297680"/>
          </a:xfrm>
          <a:prstGeom prst="rect">
            <a:avLst/>
          </a:prstGeom>
          <a:noFill/>
        </p:spPr>
        <p:txBody>
          <a:bodyPr wrap="square">
            <a:spAutoFit/>
          </a:bodyPr>
          <a:lstStyle/>
          <a:p>
            <a:pPr>
              <a:spcAft>
                <a:spcPts val="800"/>
              </a:spcAft>
              <a:defRPr sz="1050" b="1">
                <a:solidFill>
                  <a:srgbClr val="38BDF8"/>
                </a:solidFill>
                <a:latin typeface="Segoe UI"/>
              </a:defRPr>
            </a:pPr>
            <a:r>
              <a:t>📥 THE ASSEMBLED 5-PART PROMPT</a:t>
            </a:r>
          </a:p>
          <a:p>
            <a:pPr>
              <a:defRPr sz="900">
                <a:solidFill>
                  <a:srgbClr val="D4D4D4"/>
                </a:solidFill>
                <a:latin typeface="Consolas"/>
              </a:defRPr>
            </a:pPr>
            <a:r>
              <a:t>[Persona]: Act as head of the College Robotics Club.</a:t>
            </a:r>
            <a:br/>
            <a:r>
              <a:t>[Objective]: Write a WhatsApp announcement recruiting 1st and 2nd year students for our Hackathon.</a:t>
            </a:r>
            <a:br/>
            <a:r>
              <a:t>[Example]:</a:t>
            </a:r>
            <a:br/>
            <a:r>
              <a:t>Notice: "Meeting at 5pm room 204."</a:t>
            </a:r>
            <a:br/>
            <a:r>
              <a:t>-&gt; "🤖 Builders Wanted! Kickstart your coding journey at 5 PM in Room 204. Free pizza!"</a:t>
            </a:r>
            <a:br/>
            <a:r>
              <a:t>[Format]:</a:t>
            </a:r>
            <a:br/>
            <a:r>
              <a:t>- Catchy headline with 1 emoji</a:t>
            </a:r>
            <a:br/>
            <a:r>
              <a:t>- 2 bullet points on benefits</a:t>
            </a:r>
            <a:br/>
            <a:r>
              <a:t>- Meeting date, time &amp; room</a:t>
            </a:r>
            <a:br/>
            <a:r>
              <a:t>- Call to Action button link</a:t>
            </a:r>
            <a:br/>
            <a:r>
              <a:t>[Tone]: Energetic, welcoming to beginners, zero jargon.</a:t>
            </a:r>
          </a:p>
        </p:txBody>
      </p:sp>
      <p:sp>
        <p:nvSpPr>
          <p:cNvPr id="9" name="Rounded Rectangle 8"/>
          <p:cNvSpPr/>
          <p:nvPr/>
        </p:nvSpPr>
        <p:spPr>
          <a:xfrm>
            <a:off x="6217920" y="1536192"/>
            <a:ext cx="5212080" cy="4617720"/>
          </a:xfrm>
          <a:prstGeom prst="roundRect">
            <a:avLst/>
          </a:prstGeom>
          <a:solidFill>
            <a:srgbClr val="F8F9FA"/>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45920"/>
            <a:ext cx="4846320" cy="4297680"/>
          </a:xfrm>
          <a:prstGeom prst="rect">
            <a:avLst/>
          </a:prstGeom>
          <a:noFill/>
        </p:spPr>
        <p:txBody>
          <a:bodyPr wrap="square">
            <a:spAutoFit/>
          </a:bodyPr>
          <a:lstStyle/>
          <a:p>
            <a:pPr>
              <a:spcAft>
                <a:spcPts val="800"/>
              </a:spcAft>
              <a:defRPr sz="1050" b="1">
                <a:solidFill>
                  <a:srgbClr val="27AE60"/>
                </a:solidFill>
                <a:latin typeface="Segoe UI"/>
              </a:defRPr>
            </a:pPr>
            <a:r>
              <a:t>📤 EXACT AI MODEL OUTPUT</a:t>
            </a:r>
          </a:p>
          <a:p>
            <a:pPr>
              <a:defRPr sz="1000">
                <a:solidFill>
                  <a:srgbClr val="2C3E50"/>
                </a:solidFill>
                <a:latin typeface="Segoe UI"/>
              </a:defRPr>
            </a:pPr>
            <a:r>
              <a:t>🚀 Build Robots, Win Prizes: Robotics Club 2026!</a:t>
            </a:r>
            <a:br/>
            <a:br/>
            <a:r>
              <a:t>No prior coding experience needed—if you love tinkering, you belong here!</a:t>
            </a:r>
            <a:br/>
            <a:br/>
            <a:r>
              <a:t>• Learn Arduino, 3D printing &amp; AI from senior mentors.</a:t>
            </a:r>
            <a:br/>
            <a:r>
              <a:t>• Build real hardware projects for inter-college hackathons.</a:t>
            </a:r>
            <a:br/>
            <a:br/>
            <a:r>
              <a:t>📍 Where: Makerspace Lab (Room 304)</a:t>
            </a:r>
            <a:br/>
            <a:r>
              <a:t>🗓️ When: Thursday, Oct 8th @ 4:30 PM</a:t>
            </a:r>
            <a:br/>
            <a:br/>
            <a:r>
              <a:t>👉 Register your spot: bit.ly/ssm-robotics-join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51560"/>
          </a:xfrm>
          <a:prstGeom prst="rect">
            <a:avLst/>
          </a:prstGeom>
          <a:noFill/>
        </p:spPr>
        <p:txBody>
          <a:bodyPr wrap="square" lIns="0" tIns="0" rIns="0" bIns="0">
            <a:spAutoFit/>
          </a:bodyPr>
          <a:lstStyle/>
          <a:p>
            <a:pPr>
              <a:spcAft>
                <a:spcPts val="200"/>
              </a:spcAft>
              <a:defRPr sz="950" b="1">
                <a:solidFill>
                  <a:srgbClr val="3498DB"/>
                </a:solidFill>
                <a:latin typeface="Segoe UI"/>
              </a:defRPr>
            </a:pPr>
            <a:r>
              <a:t>FOUNDATIONAL PROMPTING TECHNIQUES</a:t>
            </a:r>
          </a:p>
          <a:p>
            <a:pPr>
              <a:spcAft>
                <a:spcPts val="200"/>
              </a:spcAft>
              <a:defRPr sz="2100" b="1">
                <a:solidFill>
                  <a:srgbClr val="2C3E50"/>
                </a:solidFill>
                <a:latin typeface="Segoe UI"/>
              </a:defRPr>
            </a:pPr>
            <a:r>
              <a:t>8 Foundational Prompting Techniques: Master Matrix</a:t>
            </a:r>
          </a:p>
          <a:p>
            <a:pPr>
              <a:defRPr sz="1100">
                <a:solidFill>
                  <a:srgbClr val="7F8C8D"/>
                </a:solidFill>
                <a:latin typeface="Segoe UI"/>
              </a:defRPr>
            </a:pPr>
            <a:r>
              <a:t>From simple pattern replication to autonomous agent reasoning loops</a:t>
            </a:r>
          </a:p>
        </p:txBody>
      </p:sp>
      <p:sp>
        <p:nvSpPr>
          <p:cNvPr id="4" name="Rectangle 3"/>
          <p:cNvSpPr/>
          <p:nvPr/>
        </p:nvSpPr>
        <p:spPr>
          <a:xfrm>
            <a:off x="731520" y="1353312"/>
            <a:ext cx="10728655" cy="36576"/>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F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none" lIns="0" tIns="0" rIns="0" bIns="0">
            <a:spAutoFit/>
          </a:bodyPr>
          <a:lstStyle/>
          <a:p>
            <a:pPr>
              <a:defRPr sz="900">
                <a:solidFill>
                  <a:srgbClr val="7F8C8D"/>
                </a:solidFill>
                <a:latin typeface="Segoe UI"/>
              </a:defRPr>
            </a:pPr>
            <a:r>
              <a:t>AI &amp; Industry 4.0 Workshop  |  Prompt Frameworks &amp; Local Automation  •  Slide 9 of 35</a:t>
            </a:r>
          </a:p>
        </p:txBody>
      </p:sp>
      <p:graphicFrame>
        <p:nvGraphicFramePr>
          <p:cNvPr id="7" name="Table 6"/>
          <p:cNvGraphicFramePr>
            <a:graphicFrameLocks noGrp="1"/>
          </p:cNvGraphicFramePr>
          <p:nvPr/>
        </p:nvGraphicFramePr>
        <p:xfrm>
          <a:off x="731520" y="1536192"/>
          <a:ext cx="10728655" cy="4617720"/>
        </p:xfrm>
        <a:graphic>
          <a:graphicData uri="http://schemas.openxmlformats.org/drawingml/2006/table">
            <a:tbl>
              <a:tblPr firstRow="1" bandRow="1">
                <a:tableStyleId>{5C22544A-7EE6-4342-B048-85BDC9FD1C3A}</a:tableStyleId>
              </a:tblPr>
              <a:tblGrid>
                <a:gridCol w="2286000"/>
                <a:gridCol w="4297680"/>
                <a:gridCol w="4144975"/>
              </a:tblGrid>
              <a:tr h="513080">
                <a:tc>
                  <a:txBody>
                    <a:bodyPr/>
                    <a:lstStyle/>
                    <a:p>
                      <a:pPr>
                        <a:defRPr sz="1050" b="1">
                          <a:solidFill>
                            <a:srgbClr val="FFFFFF"/>
                          </a:solidFill>
                          <a:latin typeface="Segoe UI"/>
                        </a:defRPr>
                      </a:pPr>
                      <a:r>
                        <a:t>Technique</a:t>
                      </a:r>
                    </a:p>
                  </a:txBody>
                  <a:tcPr>
                    <a:solidFill>
                      <a:srgbClr val="2C3E50"/>
                    </a:solidFill>
                  </a:tcPr>
                </a:tc>
                <a:tc>
                  <a:txBody>
                    <a:bodyPr/>
                    <a:lstStyle/>
                    <a:p>
                      <a:pPr>
                        <a:defRPr sz="1050" b="1">
                          <a:solidFill>
                            <a:srgbClr val="FFFFFF"/>
                          </a:solidFill>
                          <a:latin typeface="Segoe UI"/>
                        </a:defRPr>
                      </a:pPr>
                      <a:r>
                        <a:t>Core Concept</a:t>
                      </a:r>
                    </a:p>
                  </a:txBody>
                  <a:tcPr>
                    <a:solidFill>
                      <a:srgbClr val="2C3E50"/>
                    </a:solidFill>
                  </a:tcPr>
                </a:tc>
                <a:tc>
                  <a:txBody>
                    <a:bodyPr/>
                    <a:lstStyle/>
                    <a:p>
                      <a:pPr>
                        <a:defRPr sz="1050" b="1">
                          <a:solidFill>
                            <a:srgbClr val="FFFFFF"/>
                          </a:solidFill>
                          <a:latin typeface="Segoe UI"/>
                        </a:defRPr>
                      </a:pPr>
                      <a:r>
                        <a:t>Student Everyday Use Case</a:t>
                      </a:r>
                    </a:p>
                  </a:txBody>
                  <a:tcPr>
                    <a:solidFill>
                      <a:srgbClr val="2C3E50"/>
                    </a:solidFill>
                  </a:tcPr>
                </a:tc>
              </a:tr>
              <a:tr h="513080">
                <a:tc>
                  <a:txBody>
                    <a:bodyPr/>
                    <a:lstStyle/>
                    <a:p>
                      <a:pPr>
                        <a:defRPr sz="950">
                          <a:solidFill>
                            <a:srgbClr val="2C3E50"/>
                          </a:solidFill>
                          <a:latin typeface="Segoe UI"/>
                        </a:defRPr>
                      </a:pPr>
                      <a:r>
                        <a:t>1. One-Shot</a:t>
                      </a:r>
                    </a:p>
                  </a:txBody>
                  <a:tcPr>
                    <a:solidFill>
                      <a:srgbClr val="FFFFFF"/>
                    </a:solidFill>
                  </a:tcPr>
                </a:tc>
                <a:tc>
                  <a:txBody>
                    <a:bodyPr/>
                    <a:lstStyle/>
                    <a:p>
                      <a:pPr>
                        <a:defRPr sz="950">
                          <a:solidFill>
                            <a:srgbClr val="2C3E50"/>
                          </a:solidFill>
                          <a:latin typeface="Segoe UI"/>
                        </a:defRPr>
                      </a:pPr>
                      <a:r>
                        <a:t>Provide 1 example; model replicates exact style.</a:t>
                      </a:r>
                    </a:p>
                  </a:txBody>
                  <a:tcPr>
                    <a:solidFill>
                      <a:srgbClr val="FFFFFF"/>
                    </a:solidFill>
                  </a:tcPr>
                </a:tc>
                <a:tc>
                  <a:txBody>
                    <a:bodyPr/>
                    <a:lstStyle/>
                    <a:p>
                      <a:pPr>
                        <a:defRPr sz="950">
                          <a:solidFill>
                            <a:srgbClr val="2C3E50"/>
                          </a:solidFill>
                          <a:latin typeface="Segoe UI"/>
                        </a:defRPr>
                      </a:pPr>
                      <a:r>
                        <a:t>Formatting raw hostel notices into bullet tasks.</a:t>
                      </a:r>
                    </a:p>
                  </a:txBody>
                  <a:tcPr>
                    <a:solidFill>
                      <a:srgbClr val="FFFFFF"/>
                    </a:solidFill>
                  </a:tcPr>
                </a:tc>
              </a:tr>
              <a:tr h="513080">
                <a:tc>
                  <a:txBody>
                    <a:bodyPr/>
                    <a:lstStyle/>
                    <a:p>
                      <a:pPr>
                        <a:defRPr sz="950">
                          <a:solidFill>
                            <a:srgbClr val="2C3E50"/>
                          </a:solidFill>
                          <a:latin typeface="Segoe UI"/>
                        </a:defRPr>
                      </a:pPr>
                      <a:r>
                        <a:t>2. Few-Shot</a:t>
                      </a:r>
                    </a:p>
                  </a:txBody>
                  <a:tcPr>
                    <a:solidFill>
                      <a:srgbClr val="F8F9FA"/>
                    </a:solidFill>
                  </a:tcPr>
                </a:tc>
                <a:tc>
                  <a:txBody>
                    <a:bodyPr/>
                    <a:lstStyle/>
                    <a:p>
                      <a:pPr>
                        <a:defRPr sz="950">
                          <a:solidFill>
                            <a:srgbClr val="2C3E50"/>
                          </a:solidFill>
                          <a:latin typeface="Segoe UI"/>
                        </a:defRPr>
                      </a:pPr>
                      <a:r>
                        <a:t>Provide 2-5 examples for pattern consistency.</a:t>
                      </a:r>
                    </a:p>
                  </a:txBody>
                  <a:tcPr>
                    <a:solidFill>
                      <a:srgbClr val="F8F9FA"/>
                    </a:solidFill>
                  </a:tcPr>
                </a:tc>
                <a:tc>
                  <a:txBody>
                    <a:bodyPr/>
                    <a:lstStyle/>
                    <a:p>
                      <a:pPr>
                        <a:defRPr sz="950">
                          <a:solidFill>
                            <a:srgbClr val="2C3E50"/>
                          </a:solidFill>
                          <a:latin typeface="Segoe UI"/>
                        </a:defRPr>
                      </a:pPr>
                      <a:r>
                        <a:t>Classifying WhatsApp chat messages into categories.</a:t>
                      </a:r>
                    </a:p>
                  </a:txBody>
                  <a:tcPr>
                    <a:solidFill>
                      <a:srgbClr val="F8F9FA"/>
                    </a:solidFill>
                  </a:tcPr>
                </a:tc>
              </a:tr>
              <a:tr h="513080">
                <a:tc>
                  <a:txBody>
                    <a:bodyPr/>
                    <a:lstStyle/>
                    <a:p>
                      <a:pPr>
                        <a:defRPr sz="950">
                          <a:solidFill>
                            <a:srgbClr val="2C3E50"/>
                          </a:solidFill>
                          <a:latin typeface="Segoe UI"/>
                        </a:defRPr>
                      </a:pPr>
                      <a:r>
                        <a:t>3. Chain-of-Thought</a:t>
                      </a:r>
                    </a:p>
                  </a:txBody>
                  <a:tcPr>
                    <a:solidFill>
                      <a:srgbClr val="FFFFFF"/>
                    </a:solidFill>
                  </a:tcPr>
                </a:tc>
                <a:tc>
                  <a:txBody>
                    <a:bodyPr/>
                    <a:lstStyle/>
                    <a:p>
                      <a:pPr>
                        <a:defRPr sz="950">
                          <a:solidFill>
                            <a:srgbClr val="2C3E50"/>
                          </a:solidFill>
                          <a:latin typeface="Segoe UI"/>
                        </a:defRPr>
                      </a:pPr>
                      <a:r>
                        <a:t>Force step-by-step reasoning before answering.</a:t>
                      </a:r>
                    </a:p>
                  </a:txBody>
                  <a:tcPr>
                    <a:solidFill>
                      <a:srgbClr val="FFFFFF"/>
                    </a:solidFill>
                  </a:tcPr>
                </a:tc>
                <a:tc>
                  <a:txBody>
                    <a:bodyPr/>
                    <a:lstStyle/>
                    <a:p>
                      <a:pPr>
                        <a:defRPr sz="950">
                          <a:solidFill>
                            <a:srgbClr val="2C3E50"/>
                          </a:solidFill>
                          <a:latin typeface="Segoe UI"/>
                        </a:defRPr>
                      </a:pPr>
                      <a:r>
                        <a:t>Splitting apartment utility bills fairly across breaks.</a:t>
                      </a:r>
                    </a:p>
                  </a:txBody>
                  <a:tcPr>
                    <a:solidFill>
                      <a:srgbClr val="FFFFFF"/>
                    </a:solidFill>
                  </a:tcPr>
                </a:tc>
              </a:tr>
              <a:tr h="513080">
                <a:tc>
                  <a:txBody>
                    <a:bodyPr/>
                    <a:lstStyle/>
                    <a:p>
                      <a:pPr>
                        <a:defRPr sz="950">
                          <a:solidFill>
                            <a:srgbClr val="2C3E50"/>
                          </a:solidFill>
                          <a:latin typeface="Segoe UI"/>
                        </a:defRPr>
                      </a:pPr>
                      <a:r>
                        <a:t>4. Tree-of-Thought</a:t>
                      </a:r>
                    </a:p>
                  </a:txBody>
                  <a:tcPr>
                    <a:solidFill>
                      <a:srgbClr val="F8F9FA"/>
                    </a:solidFill>
                  </a:tcPr>
                </a:tc>
                <a:tc>
                  <a:txBody>
                    <a:bodyPr/>
                    <a:lstStyle/>
                    <a:p>
                      <a:pPr>
                        <a:defRPr sz="950">
                          <a:solidFill>
                            <a:srgbClr val="2C3E50"/>
                          </a:solidFill>
                          <a:latin typeface="Segoe UI"/>
                        </a:defRPr>
                      </a:pPr>
                      <a:r>
                        <a:t>Explore multiple branching options, pick winner.</a:t>
                      </a:r>
                    </a:p>
                  </a:txBody>
                  <a:tcPr>
                    <a:solidFill>
                      <a:srgbClr val="F8F9FA"/>
                    </a:solidFill>
                  </a:tcPr>
                </a:tc>
                <a:tc>
                  <a:txBody>
                    <a:bodyPr/>
                    <a:lstStyle/>
                    <a:p>
                      <a:pPr>
                        <a:defRPr sz="950">
                          <a:solidFill>
                            <a:srgbClr val="2C3E50"/>
                          </a:solidFill>
                          <a:latin typeface="Segoe UI"/>
                        </a:defRPr>
                      </a:pPr>
                      <a:r>
                        <a:t>Strategizing exam study schedule for multiple finals.</a:t>
                      </a:r>
                    </a:p>
                  </a:txBody>
                  <a:tcPr>
                    <a:solidFill>
                      <a:srgbClr val="F8F9FA"/>
                    </a:solidFill>
                  </a:tcPr>
                </a:tc>
              </a:tr>
              <a:tr h="513080">
                <a:tc>
                  <a:txBody>
                    <a:bodyPr/>
                    <a:lstStyle/>
                    <a:p>
                      <a:pPr>
                        <a:defRPr sz="950">
                          <a:solidFill>
                            <a:srgbClr val="2C3E50"/>
                          </a:solidFill>
                          <a:latin typeface="Segoe UI"/>
                        </a:defRPr>
                      </a:pPr>
                      <a:r>
                        <a:t>5. Self-Consistency</a:t>
                      </a:r>
                    </a:p>
                  </a:txBody>
                  <a:tcPr>
                    <a:solidFill>
                      <a:srgbClr val="FFFFFF"/>
                    </a:solidFill>
                  </a:tcPr>
                </a:tc>
                <a:tc>
                  <a:txBody>
                    <a:bodyPr/>
                    <a:lstStyle/>
                    <a:p>
                      <a:pPr>
                        <a:defRPr sz="950">
                          <a:solidFill>
                            <a:srgbClr val="2C3E50"/>
                          </a:solidFill>
                          <a:latin typeface="Segoe UI"/>
                        </a:defRPr>
                      </a:pPr>
                      <a:r>
                        <a:t>Run multiple independent paths, find consensus.</a:t>
                      </a:r>
                    </a:p>
                  </a:txBody>
                  <a:tcPr>
                    <a:solidFill>
                      <a:srgbClr val="FFFFFF"/>
                    </a:solidFill>
                  </a:tcPr>
                </a:tc>
                <a:tc>
                  <a:txBody>
                    <a:bodyPr/>
                    <a:lstStyle/>
                    <a:p>
                      <a:pPr>
                        <a:defRPr sz="950">
                          <a:solidFill>
                            <a:srgbClr val="2C3E50"/>
                          </a:solidFill>
                          <a:latin typeface="Segoe UI"/>
                        </a:defRPr>
                      </a:pPr>
                      <a:r>
                        <a:t>Resolving ambiguous grading or attendance rubrics.</a:t>
                      </a:r>
                    </a:p>
                  </a:txBody>
                  <a:tcPr>
                    <a:solidFill>
                      <a:srgbClr val="FFFFFF"/>
                    </a:solidFill>
                  </a:tcPr>
                </a:tc>
              </a:tr>
              <a:tr h="513080">
                <a:tc>
                  <a:txBody>
                    <a:bodyPr/>
                    <a:lstStyle/>
                    <a:p>
                      <a:pPr>
                        <a:defRPr sz="950">
                          <a:solidFill>
                            <a:srgbClr val="2C3E50"/>
                          </a:solidFill>
                          <a:latin typeface="Segoe UI"/>
                        </a:defRPr>
                      </a:pPr>
                      <a:r>
                        <a:t>6. Meta-Prompting</a:t>
                      </a:r>
                    </a:p>
                  </a:txBody>
                  <a:tcPr>
                    <a:solidFill>
                      <a:srgbClr val="F8F9FA"/>
                    </a:solidFill>
                  </a:tcPr>
                </a:tc>
                <a:tc>
                  <a:txBody>
                    <a:bodyPr/>
                    <a:lstStyle/>
                    <a:p>
                      <a:pPr>
                        <a:defRPr sz="950">
                          <a:solidFill>
                            <a:srgbClr val="2C3E50"/>
                          </a:solidFill>
                          <a:latin typeface="Segoe UI"/>
                        </a:defRPr>
                      </a:pPr>
                      <a:r>
                        <a:t>Direct the AI to design or improve the prompt.</a:t>
                      </a:r>
                    </a:p>
                  </a:txBody>
                  <a:tcPr>
                    <a:solidFill>
                      <a:srgbClr val="F8F9FA"/>
                    </a:solidFill>
                  </a:tcPr>
                </a:tc>
                <a:tc>
                  <a:txBody>
                    <a:bodyPr/>
                    <a:lstStyle/>
                    <a:p>
                      <a:pPr>
                        <a:defRPr sz="950">
                          <a:solidFill>
                            <a:srgbClr val="2C3E50"/>
                          </a:solidFill>
                          <a:latin typeface="Segoe UI"/>
                        </a:defRPr>
                      </a:pPr>
                      <a:r>
                        <a:t>Creating an interactive quiz tutor system prompt.</a:t>
                      </a:r>
                    </a:p>
                  </a:txBody>
                  <a:tcPr>
                    <a:solidFill>
                      <a:srgbClr val="F8F9FA"/>
                    </a:solidFill>
                  </a:tcPr>
                </a:tc>
              </a:tr>
              <a:tr h="513080">
                <a:tc>
                  <a:txBody>
                    <a:bodyPr/>
                    <a:lstStyle/>
                    <a:p>
                      <a:pPr>
                        <a:defRPr sz="950">
                          <a:solidFill>
                            <a:srgbClr val="2C3E50"/>
                          </a:solidFill>
                          <a:latin typeface="Segoe UI"/>
                        </a:defRPr>
                      </a:pPr>
                      <a:r>
                        <a:t>7. Iterative</a:t>
                      </a:r>
                    </a:p>
                  </a:txBody>
                  <a:tcPr>
                    <a:solidFill>
                      <a:srgbClr val="FFFFFF"/>
                    </a:solidFill>
                  </a:tcPr>
                </a:tc>
                <a:tc>
                  <a:txBody>
                    <a:bodyPr/>
                    <a:lstStyle/>
                    <a:p>
                      <a:pPr>
                        <a:defRPr sz="950">
                          <a:solidFill>
                            <a:srgbClr val="2C3E50"/>
                          </a:solidFill>
                          <a:latin typeface="Segoe UI"/>
                        </a:defRPr>
                      </a:pPr>
                      <a:r>
                        <a:t>Refine output interactively across multiple turns.</a:t>
                      </a:r>
                    </a:p>
                  </a:txBody>
                  <a:tcPr>
                    <a:solidFill>
                      <a:srgbClr val="FFFFFF"/>
                    </a:solidFill>
                  </a:tcPr>
                </a:tc>
                <a:tc>
                  <a:txBody>
                    <a:bodyPr/>
                    <a:lstStyle/>
                    <a:p>
                      <a:pPr>
                        <a:defRPr sz="950">
                          <a:solidFill>
                            <a:srgbClr val="2C3E50"/>
                          </a:solidFill>
                          <a:latin typeface="Segoe UI"/>
                        </a:defRPr>
                      </a:pPr>
                      <a:r>
                        <a:t>Polishing a formal professor email request.</a:t>
                      </a:r>
                    </a:p>
                  </a:txBody>
                  <a:tcPr>
                    <a:solidFill>
                      <a:srgbClr val="FFFFFF"/>
                    </a:solidFill>
                  </a:tcPr>
                </a:tc>
              </a:tr>
              <a:tr h="513080">
                <a:tc>
                  <a:txBody>
                    <a:bodyPr/>
                    <a:lstStyle/>
                    <a:p>
                      <a:pPr>
                        <a:defRPr sz="950">
                          <a:solidFill>
                            <a:srgbClr val="2C3E50"/>
                          </a:solidFill>
                          <a:latin typeface="Segoe UI"/>
                        </a:defRPr>
                      </a:pPr>
                      <a:r>
                        <a:t>8. ReAct Loop</a:t>
                      </a:r>
                    </a:p>
                  </a:txBody>
                  <a:tcPr>
                    <a:solidFill>
                      <a:srgbClr val="F8F9FA"/>
                    </a:solidFill>
                  </a:tcPr>
                </a:tc>
                <a:tc>
                  <a:txBody>
                    <a:bodyPr/>
                    <a:lstStyle/>
                    <a:p>
                      <a:pPr>
                        <a:defRPr sz="950">
                          <a:solidFill>
                            <a:srgbClr val="2C3E50"/>
                          </a:solidFill>
                          <a:latin typeface="Segoe UI"/>
                        </a:defRPr>
                      </a:pPr>
                      <a:r>
                        <a:t>Thought -&gt; Action -&gt; Observation execution cycle.</a:t>
                      </a:r>
                    </a:p>
                  </a:txBody>
                  <a:tcPr>
                    <a:solidFill>
                      <a:srgbClr val="F8F9FA"/>
                    </a:solidFill>
                  </a:tcPr>
                </a:tc>
                <a:tc>
                  <a:txBody>
                    <a:bodyPr/>
                    <a:lstStyle/>
                    <a:p>
                      <a:pPr>
                        <a:defRPr sz="950">
                          <a:solidFill>
                            <a:srgbClr val="2C3E50"/>
                          </a:solidFill>
                          <a:latin typeface="Segoe UI"/>
                        </a:defRPr>
                      </a:pPr>
                      <a:r>
                        <a:t>Autonomous library book search and hold reservation.</a:t>
                      </a:r>
                    </a:p>
                  </a:txBody>
                  <a:tcPr>
                    <a:solidFill>
                      <a:srgbClr val="F8F9FA"/>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51560"/>
          </a:xfrm>
          <a:prstGeom prst="rect">
            <a:avLst/>
          </a:prstGeom>
          <a:noFill/>
        </p:spPr>
        <p:txBody>
          <a:bodyPr wrap="square" lIns="0" tIns="0" rIns="0" bIns="0">
            <a:spAutoFit/>
          </a:bodyPr>
          <a:lstStyle/>
          <a:p>
            <a:pPr>
              <a:spcAft>
                <a:spcPts val="200"/>
              </a:spcAft>
              <a:defRPr sz="950" b="1">
                <a:solidFill>
                  <a:srgbClr val="3498DB"/>
                </a:solidFill>
                <a:latin typeface="Segoe UI"/>
              </a:defRPr>
            </a:pPr>
            <a:r>
              <a:t>FOUNDATIONAL PROMPTING TECHNIQUES</a:t>
            </a:r>
          </a:p>
          <a:p>
            <a:pPr>
              <a:spcAft>
                <a:spcPts val="400"/>
              </a:spcAft>
              <a:defRPr sz="2100" b="1">
                <a:solidFill>
                  <a:srgbClr val="2C3E50"/>
                </a:solidFill>
                <a:latin typeface="Segoe UI"/>
              </a:defRPr>
            </a:pPr>
            <a:r>
              <a:t>Technique 1: One-Shot Prompting</a:t>
            </a:r>
          </a:p>
        </p:txBody>
      </p:sp>
      <p:sp>
        <p:nvSpPr>
          <p:cNvPr id="4" name="Rectangle 3"/>
          <p:cNvSpPr/>
          <p:nvPr/>
        </p:nvSpPr>
        <p:spPr>
          <a:xfrm>
            <a:off x="731520" y="1353312"/>
            <a:ext cx="10728655" cy="36576"/>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F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none" lIns="0" tIns="0" rIns="0" bIns="0">
            <a:spAutoFit/>
          </a:bodyPr>
          <a:lstStyle/>
          <a:p>
            <a:pPr>
              <a:defRPr sz="900">
                <a:solidFill>
                  <a:srgbClr val="7F8C8D"/>
                </a:solidFill>
                <a:latin typeface="Segoe UI"/>
              </a:defRPr>
            </a:pPr>
            <a:r>
              <a:t>AI &amp; Industry 4.0 Workshop  |  Prompt Frameworks &amp; Local Automation  •  Slide 10 of 35</a:t>
            </a:r>
          </a:p>
        </p:txBody>
      </p:sp>
      <p:sp>
        <p:nvSpPr>
          <p:cNvPr id="7" name="Rounded Rectangle 6"/>
          <p:cNvSpPr/>
          <p:nvPr/>
        </p:nvSpPr>
        <p:spPr>
          <a:xfrm>
            <a:off x="731520" y="1508760"/>
            <a:ext cx="10728655" cy="731520"/>
          </a:xfrm>
          <a:prstGeom prst="roundRect">
            <a:avLst/>
          </a:prstGeom>
          <a:solidFill>
            <a:srgbClr val="E8F4FD"/>
          </a:solidFill>
          <a:ln w="1905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54480"/>
            <a:ext cx="10362895" cy="640080"/>
          </a:xfrm>
          <a:prstGeom prst="rect">
            <a:avLst/>
          </a:prstGeom>
          <a:noFill/>
        </p:spPr>
        <p:txBody>
          <a:bodyPr wrap="square">
            <a:spAutoFit/>
          </a:bodyPr>
          <a:lstStyle/>
          <a:p>
            <a:pPr>
              <a:spcAft>
                <a:spcPts val="200"/>
              </a:spcAft>
              <a:defRPr sz="1050" b="1">
                <a:solidFill>
                  <a:srgbClr val="2C3E50"/>
                </a:solidFill>
                <a:latin typeface="Segoe UI"/>
              </a:defRPr>
            </a:pPr>
            <a:r>
              <a:t>💡 Formula: Give 1 clear example so the AI instantly grasps the desired output pattern.</a:t>
            </a:r>
          </a:p>
          <a:p>
            <a:pPr>
              <a:defRPr sz="950">
                <a:solidFill>
                  <a:srgbClr val="2C3E50"/>
                </a:solidFill>
                <a:latin typeface="Segoe UI"/>
              </a:defRPr>
            </a:pPr>
            <a:r>
              <a:t>🎯 Student &amp; Campus Use Case: Standardizing raw, messy hostel or college notices into clean bullet action items.</a:t>
            </a:r>
          </a:p>
        </p:txBody>
      </p:sp>
      <p:sp>
        <p:nvSpPr>
          <p:cNvPr id="9" name="Rounded Rectangle 8"/>
          <p:cNvSpPr/>
          <p:nvPr/>
        </p:nvSpPr>
        <p:spPr>
          <a:xfrm>
            <a:off x="731520" y="2377440"/>
            <a:ext cx="5212080" cy="3886200"/>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468880"/>
            <a:ext cx="4846320" cy="3703320"/>
          </a:xfrm>
          <a:prstGeom prst="rect">
            <a:avLst/>
          </a:prstGeom>
          <a:noFill/>
        </p:spPr>
        <p:txBody>
          <a:bodyPr wrap="square">
            <a:spAutoFit/>
          </a:bodyPr>
          <a:lstStyle/>
          <a:p>
            <a:pPr>
              <a:spcAft>
                <a:spcPts val="600"/>
              </a:spcAft>
              <a:defRPr sz="1050" b="1">
                <a:solidFill>
                  <a:srgbClr val="38BDF8"/>
                </a:solidFill>
                <a:latin typeface="Segoe UI"/>
              </a:defRPr>
            </a:pPr>
            <a:r>
              <a:t>📥 COMPLETE INPUT PROMPT</a:t>
            </a:r>
          </a:p>
          <a:p>
            <a:pPr>
              <a:defRPr sz="900">
                <a:solidFill>
                  <a:srgbClr val="D4D4D4"/>
                </a:solidFill>
                <a:latin typeface="Consolas"/>
              </a:defRPr>
            </a:pPr>
            <a:r>
              <a:t>Convert this messy hostel announcement into a structured action item.</a:t>
            </a:r>
            <a:br/>
            <a:br/>
            <a:r>
              <a:t>Example:</a:t>
            </a:r>
            <a:br/>
            <a:r>
              <a:t>Input: "Urgent! Everyone must submit mess fees by 5pm Friday to room 102 or late fine of 100 will apply."</a:t>
            </a:r>
            <a:br/>
            <a:r>
              <a:t>Output:</a:t>
            </a:r>
            <a:br/>
            <a:r>
              <a:t>- Task: Submit Mess Fees</a:t>
            </a:r>
            <a:br/>
            <a:r>
              <a:t>- Deadline: Friday, 5:00 PM</a:t>
            </a:r>
            <a:br/>
            <a:r>
              <a:t>- Location: Room 102</a:t>
            </a:r>
            <a:br/>
            <a:r>
              <a:t>- Penalty: Rs 100 late fine</a:t>
            </a:r>
            <a:br/>
            <a:br/>
            <a:r>
              <a:t>Input: "Library books must be renewed before Tuesday at the main desk. Closed on Monday for pest control."</a:t>
            </a:r>
            <a:br/>
            <a:r>
              <a:t>Output:</a:t>
            </a:r>
          </a:p>
        </p:txBody>
      </p:sp>
      <p:sp>
        <p:nvSpPr>
          <p:cNvPr id="11" name="Rounded Rectangle 10"/>
          <p:cNvSpPr/>
          <p:nvPr/>
        </p:nvSpPr>
        <p:spPr>
          <a:xfrm>
            <a:off x="6217920" y="2377440"/>
            <a:ext cx="5212080" cy="3886200"/>
          </a:xfrm>
          <a:prstGeom prst="roundRect">
            <a:avLst/>
          </a:prstGeom>
          <a:solidFill>
            <a:srgbClr val="F8F9FA"/>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468880"/>
            <a:ext cx="4846320" cy="3703320"/>
          </a:xfrm>
          <a:prstGeom prst="rect">
            <a:avLst/>
          </a:prstGeom>
          <a:noFill/>
        </p:spPr>
        <p:txBody>
          <a:bodyPr wrap="square">
            <a:spAutoFit/>
          </a:bodyPr>
          <a:lstStyle/>
          <a:p>
            <a:pPr>
              <a:spcAft>
                <a:spcPts val="600"/>
              </a:spcAft>
              <a:defRPr sz="1050" b="1">
                <a:solidFill>
                  <a:srgbClr val="27AE60"/>
                </a:solidFill>
                <a:latin typeface="Segoe UI"/>
              </a:defRPr>
            </a:pPr>
            <a:r>
              <a:t>📤 EXACT AI MODEL OUTPUT</a:t>
            </a:r>
          </a:p>
          <a:p>
            <a:pPr>
              <a:defRPr sz="950">
                <a:solidFill>
                  <a:srgbClr val="2C3E50"/>
                </a:solidFill>
                <a:latin typeface="Segoe UI"/>
              </a:defRPr>
            </a:pPr>
            <a:r>
              <a:t>- Task: Renew Library Books</a:t>
            </a:r>
            <a:br/>
            <a:r>
              <a:t>- Deadline: Tuesday (Regular Desk Hours)</a:t>
            </a:r>
            <a:br/>
            <a:r>
              <a:t>- Location: Main Circulation Desk</a:t>
            </a:r>
            <a:br/>
            <a:r>
              <a:t>- Important Note: Closed on Monday for pest control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51560"/>
          </a:xfrm>
          <a:prstGeom prst="rect">
            <a:avLst/>
          </a:prstGeom>
          <a:noFill/>
        </p:spPr>
        <p:txBody>
          <a:bodyPr wrap="square" lIns="0" tIns="0" rIns="0" bIns="0">
            <a:spAutoFit/>
          </a:bodyPr>
          <a:lstStyle/>
          <a:p>
            <a:pPr>
              <a:spcAft>
                <a:spcPts val="200"/>
              </a:spcAft>
              <a:defRPr sz="950" b="1">
                <a:solidFill>
                  <a:srgbClr val="3498DB"/>
                </a:solidFill>
                <a:latin typeface="Segoe UI"/>
              </a:defRPr>
            </a:pPr>
            <a:r>
              <a:t>FOUNDATIONAL PROMPTING TECHNIQUES</a:t>
            </a:r>
          </a:p>
          <a:p>
            <a:pPr>
              <a:spcAft>
                <a:spcPts val="400"/>
              </a:spcAft>
              <a:defRPr sz="2100" b="1">
                <a:solidFill>
                  <a:srgbClr val="2C3E50"/>
                </a:solidFill>
                <a:latin typeface="Segoe UI"/>
              </a:defRPr>
            </a:pPr>
            <a:r>
              <a:t>Technique 2: Few-Shot Prompting</a:t>
            </a:r>
          </a:p>
        </p:txBody>
      </p:sp>
      <p:sp>
        <p:nvSpPr>
          <p:cNvPr id="4" name="Rectangle 3"/>
          <p:cNvSpPr/>
          <p:nvPr/>
        </p:nvSpPr>
        <p:spPr>
          <a:xfrm>
            <a:off x="731520" y="1353312"/>
            <a:ext cx="10728655" cy="36576"/>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F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none" lIns="0" tIns="0" rIns="0" bIns="0">
            <a:spAutoFit/>
          </a:bodyPr>
          <a:lstStyle/>
          <a:p>
            <a:pPr>
              <a:defRPr sz="900">
                <a:solidFill>
                  <a:srgbClr val="7F8C8D"/>
                </a:solidFill>
                <a:latin typeface="Segoe UI"/>
              </a:defRPr>
            </a:pPr>
            <a:r>
              <a:t>AI &amp; Industry 4.0 Workshop  |  Prompt Frameworks &amp; Local Automation  •  Slide 11 of 35</a:t>
            </a:r>
          </a:p>
        </p:txBody>
      </p:sp>
      <p:sp>
        <p:nvSpPr>
          <p:cNvPr id="7" name="Rounded Rectangle 6"/>
          <p:cNvSpPr/>
          <p:nvPr/>
        </p:nvSpPr>
        <p:spPr>
          <a:xfrm>
            <a:off x="731520" y="1508760"/>
            <a:ext cx="10728655" cy="731520"/>
          </a:xfrm>
          <a:prstGeom prst="roundRect">
            <a:avLst/>
          </a:prstGeom>
          <a:solidFill>
            <a:srgbClr val="E8F4FD"/>
          </a:solidFill>
          <a:ln w="1905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54480"/>
            <a:ext cx="10362895" cy="640080"/>
          </a:xfrm>
          <a:prstGeom prst="rect">
            <a:avLst/>
          </a:prstGeom>
          <a:noFill/>
        </p:spPr>
        <p:txBody>
          <a:bodyPr wrap="square">
            <a:spAutoFit/>
          </a:bodyPr>
          <a:lstStyle/>
          <a:p>
            <a:pPr>
              <a:spcAft>
                <a:spcPts val="200"/>
              </a:spcAft>
              <a:defRPr sz="1050" b="1">
                <a:solidFill>
                  <a:srgbClr val="2C3E50"/>
                </a:solidFill>
                <a:latin typeface="Segoe UI"/>
              </a:defRPr>
            </a:pPr>
            <a:r>
              <a:t>💡 Formula: Provide 2-4 examples to establish strong classification and key-value mapping.</a:t>
            </a:r>
          </a:p>
          <a:p>
            <a:pPr>
              <a:defRPr sz="950">
                <a:solidFill>
                  <a:srgbClr val="2C3E50"/>
                </a:solidFill>
                <a:latin typeface="Segoe UI"/>
              </a:defRPr>
            </a:pPr>
            <a:r>
              <a:t>🎯 Student &amp; Campus Use Case: Sorting student community group messages into priority categories.</a:t>
            </a:r>
          </a:p>
        </p:txBody>
      </p:sp>
      <p:sp>
        <p:nvSpPr>
          <p:cNvPr id="9" name="Rounded Rectangle 8"/>
          <p:cNvSpPr/>
          <p:nvPr/>
        </p:nvSpPr>
        <p:spPr>
          <a:xfrm>
            <a:off x="731520" y="2377440"/>
            <a:ext cx="5212080" cy="3886200"/>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468880"/>
            <a:ext cx="4846320" cy="3703320"/>
          </a:xfrm>
          <a:prstGeom prst="rect">
            <a:avLst/>
          </a:prstGeom>
          <a:noFill/>
        </p:spPr>
        <p:txBody>
          <a:bodyPr wrap="square">
            <a:spAutoFit/>
          </a:bodyPr>
          <a:lstStyle/>
          <a:p>
            <a:pPr>
              <a:spcAft>
                <a:spcPts val="600"/>
              </a:spcAft>
              <a:defRPr sz="1050" b="1">
                <a:solidFill>
                  <a:srgbClr val="38BDF8"/>
                </a:solidFill>
                <a:latin typeface="Segoe UI"/>
              </a:defRPr>
            </a:pPr>
            <a:r>
              <a:t>📥 COMPLETE INPUT PROMPT</a:t>
            </a:r>
          </a:p>
          <a:p>
            <a:pPr>
              <a:defRPr sz="900">
                <a:solidFill>
                  <a:srgbClr val="D4D4D4"/>
                </a:solidFill>
                <a:latin typeface="Consolas"/>
              </a:defRPr>
            </a:pPr>
            <a:r>
              <a:t>Classify student WhatsApp community messages into: [Category] &amp; [Urgency: High/Medium/Low].</a:t>
            </a:r>
            <a:br/>
            <a:br/>
            <a:r>
              <a:t>Example 1: "Anyone selling 2nd semester Engineering Math textbook?"</a:t>
            </a:r>
            <a:br/>
            <a:r>
              <a:t>-&gt; Category: Marketplace | Urgency: Low</a:t>
            </a:r>
            <a:br/>
            <a:br/>
            <a:r>
              <a:t>Example 2: "Water outage in Block B starting right now until midnight!"</a:t>
            </a:r>
            <a:br/>
            <a:r>
              <a:t>-&gt; Category: Hostel Alerts | Urgency: High</a:t>
            </a:r>
            <a:br/>
            <a:br/>
            <a:r>
              <a:t>Example 3: "Bus to station leaving in 10 mins from main gate, 2 seats free."</a:t>
            </a:r>
            <a:br/>
            <a:r>
              <a:t>-&gt; Category: Transport | Urgency: Medium</a:t>
            </a:r>
            <a:br/>
            <a:br/>
            <a:r>
              <a:t>Message to Classify: "Lost my black Lenovo laptop charger in Lab 2 today!"</a:t>
            </a:r>
            <a:br/>
            <a:r>
              <a:t>Output:</a:t>
            </a:r>
          </a:p>
        </p:txBody>
      </p:sp>
      <p:sp>
        <p:nvSpPr>
          <p:cNvPr id="11" name="Rounded Rectangle 10"/>
          <p:cNvSpPr/>
          <p:nvPr/>
        </p:nvSpPr>
        <p:spPr>
          <a:xfrm>
            <a:off x="6217920" y="2377440"/>
            <a:ext cx="5212080" cy="3886200"/>
          </a:xfrm>
          <a:prstGeom prst="roundRect">
            <a:avLst/>
          </a:prstGeom>
          <a:solidFill>
            <a:srgbClr val="F8F9FA"/>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468880"/>
            <a:ext cx="4846320" cy="3703320"/>
          </a:xfrm>
          <a:prstGeom prst="rect">
            <a:avLst/>
          </a:prstGeom>
          <a:noFill/>
        </p:spPr>
        <p:txBody>
          <a:bodyPr wrap="square">
            <a:spAutoFit/>
          </a:bodyPr>
          <a:lstStyle/>
          <a:p>
            <a:pPr>
              <a:spcAft>
                <a:spcPts val="600"/>
              </a:spcAft>
              <a:defRPr sz="1050" b="1">
                <a:solidFill>
                  <a:srgbClr val="27AE60"/>
                </a:solidFill>
                <a:latin typeface="Segoe UI"/>
              </a:defRPr>
            </a:pPr>
            <a:r>
              <a:t>📤 EXACT AI MODEL OUTPUT</a:t>
            </a:r>
          </a:p>
          <a:p>
            <a:pPr>
              <a:defRPr sz="950">
                <a:solidFill>
                  <a:srgbClr val="2C3E50"/>
                </a:solidFill>
                <a:latin typeface="Segoe UI"/>
              </a:defRPr>
            </a:pPr>
            <a:r>
              <a:t>Category: Lost &amp; Found | Urgency: High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51560"/>
          </a:xfrm>
          <a:prstGeom prst="rect">
            <a:avLst/>
          </a:prstGeom>
          <a:noFill/>
        </p:spPr>
        <p:txBody>
          <a:bodyPr wrap="square" lIns="0" tIns="0" rIns="0" bIns="0">
            <a:spAutoFit/>
          </a:bodyPr>
          <a:lstStyle/>
          <a:p>
            <a:pPr>
              <a:spcAft>
                <a:spcPts val="200"/>
              </a:spcAft>
              <a:defRPr sz="950" b="1">
                <a:solidFill>
                  <a:srgbClr val="3498DB"/>
                </a:solidFill>
                <a:latin typeface="Segoe UI"/>
              </a:defRPr>
            </a:pPr>
            <a:r>
              <a:t>FOUNDATIONAL PROMPTING TECHNIQUES</a:t>
            </a:r>
          </a:p>
          <a:p>
            <a:pPr>
              <a:spcAft>
                <a:spcPts val="400"/>
              </a:spcAft>
              <a:defRPr sz="2100" b="1">
                <a:solidFill>
                  <a:srgbClr val="2C3E50"/>
                </a:solidFill>
                <a:latin typeface="Segoe UI"/>
              </a:defRPr>
            </a:pPr>
            <a:r>
              <a:t>Technique 3: Chain-of-Thought (CoT) Prompting</a:t>
            </a:r>
          </a:p>
        </p:txBody>
      </p:sp>
      <p:sp>
        <p:nvSpPr>
          <p:cNvPr id="4" name="Rectangle 3"/>
          <p:cNvSpPr/>
          <p:nvPr/>
        </p:nvSpPr>
        <p:spPr>
          <a:xfrm>
            <a:off x="731520" y="1353312"/>
            <a:ext cx="10728655" cy="36576"/>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F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none" lIns="0" tIns="0" rIns="0" bIns="0">
            <a:spAutoFit/>
          </a:bodyPr>
          <a:lstStyle/>
          <a:p>
            <a:pPr>
              <a:defRPr sz="900">
                <a:solidFill>
                  <a:srgbClr val="7F8C8D"/>
                </a:solidFill>
                <a:latin typeface="Segoe UI"/>
              </a:defRPr>
            </a:pPr>
            <a:r>
              <a:t>AI &amp; Industry 4.0 Workshop  |  Prompt Frameworks &amp; Local Automation  •  Slide 12 of 35</a:t>
            </a:r>
          </a:p>
        </p:txBody>
      </p:sp>
      <p:sp>
        <p:nvSpPr>
          <p:cNvPr id="7" name="Rounded Rectangle 6"/>
          <p:cNvSpPr/>
          <p:nvPr/>
        </p:nvSpPr>
        <p:spPr>
          <a:xfrm>
            <a:off x="731520" y="1508760"/>
            <a:ext cx="10728655" cy="731520"/>
          </a:xfrm>
          <a:prstGeom prst="roundRect">
            <a:avLst/>
          </a:prstGeom>
          <a:solidFill>
            <a:srgbClr val="E8F4FD"/>
          </a:solidFill>
          <a:ln w="1905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54480"/>
            <a:ext cx="10362895" cy="640080"/>
          </a:xfrm>
          <a:prstGeom prst="rect">
            <a:avLst/>
          </a:prstGeom>
          <a:noFill/>
        </p:spPr>
        <p:txBody>
          <a:bodyPr wrap="square">
            <a:spAutoFit/>
          </a:bodyPr>
          <a:lstStyle/>
          <a:p>
            <a:pPr>
              <a:spcAft>
                <a:spcPts val="200"/>
              </a:spcAft>
              <a:defRPr sz="1050" b="1">
                <a:solidFill>
                  <a:srgbClr val="2C3E50"/>
                </a:solidFill>
                <a:latin typeface="Segoe UI"/>
              </a:defRPr>
            </a:pPr>
            <a:r>
              <a:t>💡 Formula: Instruct the model to reason step-by-step before concluding, preventing math hallucinations.</a:t>
            </a:r>
          </a:p>
          <a:p>
            <a:pPr>
              <a:defRPr sz="950">
                <a:solidFill>
                  <a:srgbClr val="2C3E50"/>
                </a:solidFill>
                <a:latin typeface="Segoe UI"/>
              </a:defRPr>
            </a:pPr>
            <a:r>
              <a:t>🎯 Student &amp; Campus Use Case: Fairly splitting shared student apartment rent and Wi-Fi based on actual days stayed.</a:t>
            </a:r>
          </a:p>
        </p:txBody>
      </p:sp>
      <p:sp>
        <p:nvSpPr>
          <p:cNvPr id="9" name="Rounded Rectangle 8"/>
          <p:cNvSpPr/>
          <p:nvPr/>
        </p:nvSpPr>
        <p:spPr>
          <a:xfrm>
            <a:off x="731520" y="2377440"/>
            <a:ext cx="5212080" cy="3886200"/>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468880"/>
            <a:ext cx="4846320" cy="3703320"/>
          </a:xfrm>
          <a:prstGeom prst="rect">
            <a:avLst/>
          </a:prstGeom>
          <a:noFill/>
        </p:spPr>
        <p:txBody>
          <a:bodyPr wrap="square">
            <a:spAutoFit/>
          </a:bodyPr>
          <a:lstStyle/>
          <a:p>
            <a:pPr>
              <a:spcAft>
                <a:spcPts val="600"/>
              </a:spcAft>
              <a:defRPr sz="1050" b="1">
                <a:solidFill>
                  <a:srgbClr val="38BDF8"/>
                </a:solidFill>
                <a:latin typeface="Segoe UI"/>
              </a:defRPr>
            </a:pPr>
            <a:r>
              <a:t>📥 COMPLETE INPUT PROMPT</a:t>
            </a:r>
          </a:p>
          <a:p>
            <a:pPr>
              <a:defRPr sz="900">
                <a:solidFill>
                  <a:srgbClr val="D4D4D4"/>
                </a:solidFill>
                <a:latin typeface="Consolas"/>
              </a:defRPr>
            </a:pPr>
            <a:r>
              <a:t>Calculate roommate Wi-Fi bill split step-by-step.</a:t>
            </a:r>
            <a:br/>
            <a:r>
              <a:t>Total bill is $60 for the month of January (30 days total).</a:t>
            </a:r>
            <a:br/>
            <a:r>
              <a:t>- Roommate Alex stayed all 30 days.</a:t>
            </a:r>
            <a:br/>
            <a:r>
              <a:t>- Roommate Sam went home for winter break and stayed only 10 days.</a:t>
            </a:r>
            <a:br/>
            <a:r>
              <a:t>- Roommate Chris stayed 20 days.</a:t>
            </a:r>
            <a:br/>
            <a:br/>
            <a:r>
              <a:t>Think step-by-step to calculate how much each person owes fairly based on person-days.</a:t>
            </a:r>
          </a:p>
        </p:txBody>
      </p:sp>
      <p:sp>
        <p:nvSpPr>
          <p:cNvPr id="11" name="Rounded Rectangle 10"/>
          <p:cNvSpPr/>
          <p:nvPr/>
        </p:nvSpPr>
        <p:spPr>
          <a:xfrm>
            <a:off x="6217920" y="2377440"/>
            <a:ext cx="5212080" cy="3886200"/>
          </a:xfrm>
          <a:prstGeom prst="roundRect">
            <a:avLst/>
          </a:prstGeom>
          <a:solidFill>
            <a:srgbClr val="F8F9FA"/>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468880"/>
            <a:ext cx="4846320" cy="3703320"/>
          </a:xfrm>
          <a:prstGeom prst="rect">
            <a:avLst/>
          </a:prstGeom>
          <a:noFill/>
        </p:spPr>
        <p:txBody>
          <a:bodyPr wrap="square">
            <a:spAutoFit/>
          </a:bodyPr>
          <a:lstStyle/>
          <a:p>
            <a:pPr>
              <a:spcAft>
                <a:spcPts val="600"/>
              </a:spcAft>
              <a:defRPr sz="1050" b="1">
                <a:solidFill>
                  <a:srgbClr val="27AE60"/>
                </a:solidFill>
                <a:latin typeface="Segoe UI"/>
              </a:defRPr>
            </a:pPr>
            <a:r>
              <a:t>📤 EXACT AI MODEL OUTPUT</a:t>
            </a:r>
          </a:p>
          <a:p>
            <a:pPr>
              <a:defRPr sz="950">
                <a:solidFill>
                  <a:srgbClr val="2C3E50"/>
                </a:solidFill>
                <a:latin typeface="Segoe UI"/>
              </a:defRPr>
            </a:pPr>
            <a:r>
              <a:t>Step 1: Calculate total person-days:</a:t>
            </a:r>
            <a:br/>
            <a:r>
              <a:t>• Alex: 30 days</a:t>
            </a:r>
            <a:br/>
            <a:r>
              <a:t>• Sam: 10 days</a:t>
            </a:r>
            <a:br/>
            <a:r>
              <a:t>• Chris: 20 days</a:t>
            </a:r>
            <a:br/>
            <a:r>
              <a:t>Total = 30 + 10 + 20 = 60 person-days.</a:t>
            </a:r>
            <a:br/>
            <a:br/>
            <a:r>
              <a:t>Step 2: Calculate daily rate per person-day:</a:t>
            </a:r>
            <a:br/>
            <a:r>
              <a:t>• $60 total bill / 60 person-days = $1.00 per person per day.</a:t>
            </a:r>
            <a:br/>
            <a:br/>
            <a:r>
              <a:t>Step 3: Multiply each person's days by daily rate:</a:t>
            </a:r>
            <a:br/>
            <a:r>
              <a:t>• Alex owes: 30 days * $1.00 = $30.00</a:t>
            </a:r>
            <a:br/>
            <a:r>
              <a:t>• Sam owes: 10 days * $1.00 = $10.00</a:t>
            </a:r>
            <a:br/>
            <a:r>
              <a:t>• Chris owes: 20 days * $1.00 = $20.00</a:t>
            </a:r>
            <a:br/>
            <a:br/>
            <a:r>
              <a:t>Final Balance: Alex: $30 | Sam: $10 | Chris: $20 (Total = $60.00).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51560"/>
          </a:xfrm>
          <a:prstGeom prst="rect">
            <a:avLst/>
          </a:prstGeom>
          <a:noFill/>
        </p:spPr>
        <p:txBody>
          <a:bodyPr wrap="square" lIns="0" tIns="0" rIns="0" bIns="0">
            <a:spAutoFit/>
          </a:bodyPr>
          <a:lstStyle/>
          <a:p>
            <a:pPr>
              <a:spcAft>
                <a:spcPts val="200"/>
              </a:spcAft>
              <a:defRPr sz="950" b="1">
                <a:solidFill>
                  <a:srgbClr val="3498DB"/>
                </a:solidFill>
                <a:latin typeface="Segoe UI"/>
              </a:defRPr>
            </a:pPr>
            <a:r>
              <a:t>FOUNDATIONAL PROMPTING TECHNIQUES</a:t>
            </a:r>
          </a:p>
          <a:p>
            <a:pPr>
              <a:spcAft>
                <a:spcPts val="400"/>
              </a:spcAft>
              <a:defRPr sz="2100" b="1">
                <a:solidFill>
                  <a:srgbClr val="2C3E50"/>
                </a:solidFill>
                <a:latin typeface="Segoe UI"/>
              </a:defRPr>
            </a:pPr>
            <a:r>
              <a:t>Technique 4: Tree-of-Thought (ToT) Prompting</a:t>
            </a:r>
          </a:p>
        </p:txBody>
      </p:sp>
      <p:sp>
        <p:nvSpPr>
          <p:cNvPr id="4" name="Rectangle 3"/>
          <p:cNvSpPr/>
          <p:nvPr/>
        </p:nvSpPr>
        <p:spPr>
          <a:xfrm>
            <a:off x="731520" y="1353312"/>
            <a:ext cx="10728655" cy="36576"/>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F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none" lIns="0" tIns="0" rIns="0" bIns="0">
            <a:spAutoFit/>
          </a:bodyPr>
          <a:lstStyle/>
          <a:p>
            <a:pPr>
              <a:defRPr sz="900">
                <a:solidFill>
                  <a:srgbClr val="7F8C8D"/>
                </a:solidFill>
                <a:latin typeface="Segoe UI"/>
              </a:defRPr>
            </a:pPr>
            <a:r>
              <a:t>AI &amp; Industry 4.0 Workshop  |  Prompt Frameworks &amp; Local Automation  •  Slide 13 of 35</a:t>
            </a:r>
          </a:p>
        </p:txBody>
      </p:sp>
      <p:sp>
        <p:nvSpPr>
          <p:cNvPr id="7" name="Rounded Rectangle 6"/>
          <p:cNvSpPr/>
          <p:nvPr/>
        </p:nvSpPr>
        <p:spPr>
          <a:xfrm>
            <a:off x="731520" y="1508760"/>
            <a:ext cx="10728655" cy="731520"/>
          </a:xfrm>
          <a:prstGeom prst="roundRect">
            <a:avLst/>
          </a:prstGeom>
          <a:solidFill>
            <a:srgbClr val="E8F4FD"/>
          </a:solidFill>
          <a:ln w="1905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54480"/>
            <a:ext cx="10362895" cy="640080"/>
          </a:xfrm>
          <a:prstGeom prst="rect">
            <a:avLst/>
          </a:prstGeom>
          <a:noFill/>
        </p:spPr>
        <p:txBody>
          <a:bodyPr wrap="square">
            <a:spAutoFit/>
          </a:bodyPr>
          <a:lstStyle/>
          <a:p>
            <a:pPr>
              <a:spcAft>
                <a:spcPts val="200"/>
              </a:spcAft>
              <a:defRPr sz="1050" b="1">
                <a:solidFill>
                  <a:srgbClr val="2C3E50"/>
                </a:solidFill>
                <a:latin typeface="Segoe UI"/>
              </a:defRPr>
            </a:pPr>
            <a:r>
              <a:t>💡 Formula: Explore multiple distinct reasoning paths, evaluate trade-offs, and synthesize the winner.</a:t>
            </a:r>
          </a:p>
          <a:p>
            <a:pPr>
              <a:defRPr sz="950">
                <a:solidFill>
                  <a:srgbClr val="2C3E50"/>
                </a:solidFill>
                <a:latin typeface="Segoe UI"/>
              </a:defRPr>
            </a:pPr>
            <a:r>
              <a:t>🎯 Student &amp; Campus Use Case: Optimizing study schedule when having 2 finals and a project deadline in the same 4 days.</a:t>
            </a:r>
          </a:p>
        </p:txBody>
      </p:sp>
      <p:sp>
        <p:nvSpPr>
          <p:cNvPr id="9" name="Rounded Rectangle 8"/>
          <p:cNvSpPr/>
          <p:nvPr/>
        </p:nvSpPr>
        <p:spPr>
          <a:xfrm>
            <a:off x="731520" y="2377440"/>
            <a:ext cx="5212080" cy="3886200"/>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468880"/>
            <a:ext cx="4846320" cy="3703320"/>
          </a:xfrm>
          <a:prstGeom prst="rect">
            <a:avLst/>
          </a:prstGeom>
          <a:noFill/>
        </p:spPr>
        <p:txBody>
          <a:bodyPr wrap="square">
            <a:spAutoFit/>
          </a:bodyPr>
          <a:lstStyle/>
          <a:p>
            <a:pPr>
              <a:spcAft>
                <a:spcPts val="600"/>
              </a:spcAft>
              <a:defRPr sz="1050" b="1">
                <a:solidFill>
                  <a:srgbClr val="38BDF8"/>
                </a:solidFill>
                <a:latin typeface="Segoe UI"/>
              </a:defRPr>
            </a:pPr>
            <a:r>
              <a:t>📥 COMPLETE INPUT PROMPT</a:t>
            </a:r>
          </a:p>
          <a:p>
            <a:pPr>
              <a:defRPr sz="900">
                <a:solidFill>
                  <a:srgbClr val="D4D4D4"/>
                </a:solidFill>
                <a:latin typeface="Consolas"/>
              </a:defRPr>
            </a:pPr>
            <a:r>
              <a:t>I have 2 finals (Algorithms on Thursday, Database on Friday) and a Software Project due Wednesday. Today is Sunday.</a:t>
            </a:r>
            <a:br/>
            <a:r>
              <a:t>Evaluate 3 different preparation strategies:</a:t>
            </a:r>
            <a:br/>
            <a:r>
              <a:t>- Strategy A: Finish project completely by Monday, then cram.</a:t>
            </a:r>
            <a:br/>
            <a:r>
              <a:t>- Strategy B: Dedicate morning to project, afternoon to Algorithms, evening to DB.</a:t>
            </a:r>
            <a:br/>
            <a:r>
              <a:t>- Strategy C: Work on project until 70% complete, switch to exams, finish project Tuesday night.</a:t>
            </a:r>
            <a:br/>
            <a:br/>
            <a:r>
              <a:t>Compare trade-offs of each path and recommend the winning strategy.</a:t>
            </a:r>
          </a:p>
        </p:txBody>
      </p:sp>
      <p:sp>
        <p:nvSpPr>
          <p:cNvPr id="11" name="Rounded Rectangle 10"/>
          <p:cNvSpPr/>
          <p:nvPr/>
        </p:nvSpPr>
        <p:spPr>
          <a:xfrm>
            <a:off x="6217920" y="2377440"/>
            <a:ext cx="5212080" cy="3886200"/>
          </a:xfrm>
          <a:prstGeom prst="roundRect">
            <a:avLst/>
          </a:prstGeom>
          <a:solidFill>
            <a:srgbClr val="F8F9FA"/>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468880"/>
            <a:ext cx="4846320" cy="3703320"/>
          </a:xfrm>
          <a:prstGeom prst="rect">
            <a:avLst/>
          </a:prstGeom>
          <a:noFill/>
        </p:spPr>
        <p:txBody>
          <a:bodyPr wrap="square">
            <a:spAutoFit/>
          </a:bodyPr>
          <a:lstStyle/>
          <a:p>
            <a:pPr>
              <a:spcAft>
                <a:spcPts val="600"/>
              </a:spcAft>
              <a:defRPr sz="1050" b="1">
                <a:solidFill>
                  <a:srgbClr val="27AE60"/>
                </a:solidFill>
                <a:latin typeface="Segoe UI"/>
              </a:defRPr>
            </a:pPr>
            <a:r>
              <a:t>📤 EXACT AI MODEL OUTPUT</a:t>
            </a:r>
          </a:p>
          <a:p>
            <a:pPr>
              <a:defRPr sz="950">
                <a:solidFill>
                  <a:srgbClr val="2C3E50"/>
                </a:solidFill>
                <a:latin typeface="Segoe UI"/>
              </a:defRPr>
            </a:pPr>
            <a:r>
              <a:t>Path A Evaluation:</a:t>
            </a:r>
            <a:br/>
            <a:r>
              <a:t>• High risk: Project might hit unexpected bugs, eating study time.</a:t>
            </a:r>
            <a:br/>
            <a:br/>
            <a:r>
              <a:t>Path B Evaluation (Winner):</a:t>
            </a:r>
            <a:br/>
            <a:r>
              <a:t>• Balances cognitive load using spaced repetition. Daily progress across all 3 prevents panic and allows time to ask professors questions.</a:t>
            </a:r>
            <a:br/>
            <a:br/>
            <a:r>
              <a:t>Path C Evaluation:</a:t>
            </a:r>
            <a:br/>
            <a:r>
              <a:t>• Leaving 30% of project for last night before exams risks exhaustion.</a:t>
            </a:r>
            <a:br/>
            <a:br/>
            <a:r>
              <a:t>Recommended Plan: Strategy B.</a:t>
            </a:r>
            <a:br/>
            <a:r>
              <a:t>Allocate 9AM-1PM: Project sprints, 2PM-6PM: Algorithms theory &amp; practice, 7PM-10PM: Database SQL &amp; queries.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51560"/>
          </a:xfrm>
          <a:prstGeom prst="rect">
            <a:avLst/>
          </a:prstGeom>
          <a:noFill/>
        </p:spPr>
        <p:txBody>
          <a:bodyPr wrap="square" lIns="0" tIns="0" rIns="0" bIns="0">
            <a:spAutoFit/>
          </a:bodyPr>
          <a:lstStyle/>
          <a:p>
            <a:pPr>
              <a:spcAft>
                <a:spcPts val="200"/>
              </a:spcAft>
              <a:defRPr sz="950" b="1">
                <a:solidFill>
                  <a:srgbClr val="3498DB"/>
                </a:solidFill>
                <a:latin typeface="Segoe UI"/>
              </a:defRPr>
            </a:pPr>
            <a:r>
              <a:t>FOUNDATIONAL PROMPTING TECHNIQUES</a:t>
            </a:r>
          </a:p>
          <a:p>
            <a:pPr>
              <a:spcAft>
                <a:spcPts val="400"/>
              </a:spcAft>
              <a:defRPr sz="2100" b="1">
                <a:solidFill>
                  <a:srgbClr val="2C3E50"/>
                </a:solidFill>
                <a:latin typeface="Segoe UI"/>
              </a:defRPr>
            </a:pPr>
            <a:r>
              <a:t>Technique 5: Self-Consistency Prompting</a:t>
            </a:r>
          </a:p>
        </p:txBody>
      </p:sp>
      <p:sp>
        <p:nvSpPr>
          <p:cNvPr id="4" name="Rectangle 3"/>
          <p:cNvSpPr/>
          <p:nvPr/>
        </p:nvSpPr>
        <p:spPr>
          <a:xfrm>
            <a:off x="731520" y="1353312"/>
            <a:ext cx="10728655" cy="36576"/>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F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none" lIns="0" tIns="0" rIns="0" bIns="0">
            <a:spAutoFit/>
          </a:bodyPr>
          <a:lstStyle/>
          <a:p>
            <a:pPr>
              <a:defRPr sz="900">
                <a:solidFill>
                  <a:srgbClr val="7F8C8D"/>
                </a:solidFill>
                <a:latin typeface="Segoe UI"/>
              </a:defRPr>
            </a:pPr>
            <a:r>
              <a:t>AI &amp; Industry 4.0 Workshop  |  Prompt Frameworks &amp; Local Automation  •  Slide 14 of 35</a:t>
            </a:r>
          </a:p>
        </p:txBody>
      </p:sp>
      <p:sp>
        <p:nvSpPr>
          <p:cNvPr id="7" name="Rounded Rectangle 6"/>
          <p:cNvSpPr/>
          <p:nvPr/>
        </p:nvSpPr>
        <p:spPr>
          <a:xfrm>
            <a:off x="731520" y="1508760"/>
            <a:ext cx="10728655" cy="731520"/>
          </a:xfrm>
          <a:prstGeom prst="roundRect">
            <a:avLst/>
          </a:prstGeom>
          <a:solidFill>
            <a:srgbClr val="E8F4FD"/>
          </a:solidFill>
          <a:ln w="1905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54480"/>
            <a:ext cx="10362895" cy="640080"/>
          </a:xfrm>
          <a:prstGeom prst="rect">
            <a:avLst/>
          </a:prstGeom>
          <a:noFill/>
        </p:spPr>
        <p:txBody>
          <a:bodyPr wrap="square">
            <a:spAutoFit/>
          </a:bodyPr>
          <a:lstStyle/>
          <a:p>
            <a:pPr>
              <a:spcAft>
                <a:spcPts val="200"/>
              </a:spcAft>
              <a:defRPr sz="1050" b="1">
                <a:solidFill>
                  <a:srgbClr val="2C3E50"/>
                </a:solidFill>
                <a:latin typeface="Segoe UI"/>
              </a:defRPr>
            </a:pPr>
            <a:r>
              <a:t>💡 Formula: Sample multiple diverse reasoning trajectories and pick the consensus answer.</a:t>
            </a:r>
          </a:p>
          <a:p>
            <a:pPr>
              <a:defRPr sz="950">
                <a:solidFill>
                  <a:srgbClr val="2C3E50"/>
                </a:solidFill>
                <a:latin typeface="Segoe UI"/>
              </a:defRPr>
            </a:pPr>
            <a:r>
              <a:t>🎯 Student &amp; Campus Use Case: Interpreting ambiguous college grading rubric and attendance leave policy.</a:t>
            </a:r>
          </a:p>
        </p:txBody>
      </p:sp>
      <p:sp>
        <p:nvSpPr>
          <p:cNvPr id="9" name="Rounded Rectangle 8"/>
          <p:cNvSpPr/>
          <p:nvPr/>
        </p:nvSpPr>
        <p:spPr>
          <a:xfrm>
            <a:off x="731520" y="2377440"/>
            <a:ext cx="5212080" cy="3886200"/>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468880"/>
            <a:ext cx="4846320" cy="3703320"/>
          </a:xfrm>
          <a:prstGeom prst="rect">
            <a:avLst/>
          </a:prstGeom>
          <a:noFill/>
        </p:spPr>
        <p:txBody>
          <a:bodyPr wrap="square">
            <a:spAutoFit/>
          </a:bodyPr>
          <a:lstStyle/>
          <a:p>
            <a:pPr>
              <a:spcAft>
                <a:spcPts val="600"/>
              </a:spcAft>
              <a:defRPr sz="1050" b="1">
                <a:solidFill>
                  <a:srgbClr val="38BDF8"/>
                </a:solidFill>
                <a:latin typeface="Segoe UI"/>
              </a:defRPr>
            </a:pPr>
            <a:r>
              <a:t>📥 COMPLETE INPUT PROMPT</a:t>
            </a:r>
          </a:p>
          <a:p>
            <a:pPr>
              <a:defRPr sz="900">
                <a:solidFill>
                  <a:srgbClr val="D4D4D4"/>
                </a:solidFill>
                <a:latin typeface="Consolas"/>
              </a:defRPr>
            </a:pPr>
            <a:r>
              <a:t>College Rule: "A student requires 75% attendance to sit for finals. Certified medical leaves submitted within 48 hours are exempted from the denominator."</a:t>
            </a:r>
            <a:br/>
            <a:r>
              <a:t>Student was absent 10 out of 40 classes. 4 absences have medical certificates submitted on day 2 (within 48 hours).</a:t>
            </a:r>
            <a:br/>
            <a:br/>
            <a:r>
              <a:t>Simulate 3 independent evaluations to check if student meets 75% threshold, then take consensus.</a:t>
            </a:r>
          </a:p>
        </p:txBody>
      </p:sp>
      <p:sp>
        <p:nvSpPr>
          <p:cNvPr id="11" name="Rounded Rectangle 10"/>
          <p:cNvSpPr/>
          <p:nvPr/>
        </p:nvSpPr>
        <p:spPr>
          <a:xfrm>
            <a:off x="6217920" y="2377440"/>
            <a:ext cx="5212080" cy="3886200"/>
          </a:xfrm>
          <a:prstGeom prst="roundRect">
            <a:avLst/>
          </a:prstGeom>
          <a:solidFill>
            <a:srgbClr val="F8F9FA"/>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468880"/>
            <a:ext cx="4846320" cy="3703320"/>
          </a:xfrm>
          <a:prstGeom prst="rect">
            <a:avLst/>
          </a:prstGeom>
          <a:noFill/>
        </p:spPr>
        <p:txBody>
          <a:bodyPr wrap="square">
            <a:spAutoFit/>
          </a:bodyPr>
          <a:lstStyle/>
          <a:p>
            <a:pPr>
              <a:spcAft>
                <a:spcPts val="600"/>
              </a:spcAft>
              <a:defRPr sz="1050" b="1">
                <a:solidFill>
                  <a:srgbClr val="27AE60"/>
                </a:solidFill>
                <a:latin typeface="Segoe UI"/>
              </a:defRPr>
            </a:pPr>
            <a:r>
              <a:t>📤 EXACT AI MODEL OUTPUT</a:t>
            </a:r>
          </a:p>
          <a:p>
            <a:pPr>
              <a:defRPr sz="950">
                <a:solidFill>
                  <a:srgbClr val="2C3E50"/>
                </a:solidFill>
                <a:latin typeface="Segoe UI"/>
              </a:defRPr>
            </a:pPr>
            <a:r>
              <a:t>Reasoning Path 1:</a:t>
            </a:r>
            <a:br/>
            <a:r>
              <a:t>Total non-exempt classes = 40 - 4 = 36. Classes attended = 30. Attendance = 30/36 = 83.3% &gt;= 75%. Eligible.</a:t>
            </a:r>
            <a:br/>
            <a:br/>
            <a:r>
              <a:t>Reasoning Path 2:</a:t>
            </a:r>
            <a:br/>
            <a:r>
              <a:t>Medical absence is excused, reducing total counted sessions to 36. With 30 attended sessions, ratio is 83.33%. Above 75% limit. Eligible.</a:t>
            </a:r>
            <a:br/>
            <a:br/>
            <a:r>
              <a:t>Reasoning Path 3:</a:t>
            </a:r>
            <a:br/>
            <a:r>
              <a:t>Denominator adjusted: 40 - 4 = 36. Numerator: 40 - 10 = 30. 30/36 = 83.3%. Passes cutoff.</a:t>
            </a:r>
            <a:br/>
            <a:br/>
            <a:r>
              <a:t>Consensus: Eligible to appear for exams (83.3% attendance).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51560"/>
          </a:xfrm>
          <a:prstGeom prst="rect">
            <a:avLst/>
          </a:prstGeom>
          <a:noFill/>
        </p:spPr>
        <p:txBody>
          <a:bodyPr wrap="square" lIns="0" tIns="0" rIns="0" bIns="0">
            <a:spAutoFit/>
          </a:bodyPr>
          <a:lstStyle/>
          <a:p>
            <a:pPr>
              <a:spcAft>
                <a:spcPts val="200"/>
              </a:spcAft>
              <a:defRPr sz="950" b="1">
                <a:solidFill>
                  <a:srgbClr val="3498DB"/>
                </a:solidFill>
                <a:latin typeface="Segoe UI"/>
              </a:defRPr>
            </a:pPr>
            <a:r>
              <a:t>FOUNDATIONAL PROMPTING TECHNIQUES</a:t>
            </a:r>
          </a:p>
          <a:p>
            <a:pPr>
              <a:spcAft>
                <a:spcPts val="400"/>
              </a:spcAft>
              <a:defRPr sz="2100" b="1">
                <a:solidFill>
                  <a:srgbClr val="2C3E50"/>
                </a:solidFill>
                <a:latin typeface="Segoe UI"/>
              </a:defRPr>
            </a:pPr>
            <a:r>
              <a:t>Technique 6: Meta-Prompting (Prompt Design with AI)</a:t>
            </a:r>
          </a:p>
        </p:txBody>
      </p:sp>
      <p:sp>
        <p:nvSpPr>
          <p:cNvPr id="4" name="Rectangle 3"/>
          <p:cNvSpPr/>
          <p:nvPr/>
        </p:nvSpPr>
        <p:spPr>
          <a:xfrm>
            <a:off x="731520" y="1353312"/>
            <a:ext cx="10728655" cy="36576"/>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F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none" lIns="0" tIns="0" rIns="0" bIns="0">
            <a:spAutoFit/>
          </a:bodyPr>
          <a:lstStyle/>
          <a:p>
            <a:pPr>
              <a:defRPr sz="900">
                <a:solidFill>
                  <a:srgbClr val="7F8C8D"/>
                </a:solidFill>
                <a:latin typeface="Segoe UI"/>
              </a:defRPr>
            </a:pPr>
            <a:r>
              <a:t>AI &amp; Industry 4.0 Workshop  |  Prompt Frameworks &amp; Local Automation  •  Slide 15 of 35</a:t>
            </a:r>
          </a:p>
        </p:txBody>
      </p:sp>
      <p:sp>
        <p:nvSpPr>
          <p:cNvPr id="7" name="Rounded Rectangle 6"/>
          <p:cNvSpPr/>
          <p:nvPr/>
        </p:nvSpPr>
        <p:spPr>
          <a:xfrm>
            <a:off x="731520" y="1508760"/>
            <a:ext cx="10728655" cy="731520"/>
          </a:xfrm>
          <a:prstGeom prst="roundRect">
            <a:avLst/>
          </a:prstGeom>
          <a:solidFill>
            <a:srgbClr val="E8F4FD"/>
          </a:solidFill>
          <a:ln w="1905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54480"/>
            <a:ext cx="10362895" cy="640080"/>
          </a:xfrm>
          <a:prstGeom prst="rect">
            <a:avLst/>
          </a:prstGeom>
          <a:noFill/>
        </p:spPr>
        <p:txBody>
          <a:bodyPr wrap="square">
            <a:spAutoFit/>
          </a:bodyPr>
          <a:lstStyle/>
          <a:p>
            <a:pPr>
              <a:spcAft>
                <a:spcPts val="200"/>
              </a:spcAft>
              <a:defRPr sz="1050" b="1">
                <a:solidFill>
                  <a:srgbClr val="2C3E50"/>
                </a:solidFill>
                <a:latin typeface="Segoe UI"/>
              </a:defRPr>
            </a:pPr>
            <a:r>
              <a:t>💡 Formula: Prompt the AI to write, debug, and optimize a prompt for another specialized AI agent.</a:t>
            </a:r>
          </a:p>
          <a:p>
            <a:pPr>
              <a:defRPr sz="950">
                <a:solidFill>
                  <a:srgbClr val="2C3E50"/>
                </a:solidFill>
                <a:latin typeface="Segoe UI"/>
              </a:defRPr>
            </a:pPr>
            <a:r>
              <a:t>🎯 Student &amp; Campus Use Case: Designing an interactive exam quiz bot system prompt for student test preparation.</a:t>
            </a:r>
          </a:p>
        </p:txBody>
      </p:sp>
      <p:sp>
        <p:nvSpPr>
          <p:cNvPr id="9" name="Rounded Rectangle 8"/>
          <p:cNvSpPr/>
          <p:nvPr/>
        </p:nvSpPr>
        <p:spPr>
          <a:xfrm>
            <a:off x="731520" y="2377440"/>
            <a:ext cx="5212080" cy="3886200"/>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468880"/>
            <a:ext cx="4846320" cy="3703320"/>
          </a:xfrm>
          <a:prstGeom prst="rect">
            <a:avLst/>
          </a:prstGeom>
          <a:noFill/>
        </p:spPr>
        <p:txBody>
          <a:bodyPr wrap="square">
            <a:spAutoFit/>
          </a:bodyPr>
          <a:lstStyle/>
          <a:p>
            <a:pPr>
              <a:spcAft>
                <a:spcPts val="600"/>
              </a:spcAft>
              <a:defRPr sz="1050" b="1">
                <a:solidFill>
                  <a:srgbClr val="38BDF8"/>
                </a:solidFill>
                <a:latin typeface="Segoe UI"/>
              </a:defRPr>
            </a:pPr>
            <a:r>
              <a:t>📥 COMPLETE INPUT PROMPT</a:t>
            </a:r>
          </a:p>
          <a:p>
            <a:pPr>
              <a:defRPr sz="900">
                <a:solidFill>
                  <a:srgbClr val="D4D4D4"/>
                </a:solidFill>
                <a:latin typeface="Consolas"/>
              </a:defRPr>
            </a:pPr>
            <a:r>
              <a:t>You are an expert prompt engineer.</a:t>
            </a:r>
            <a:br/>
            <a:r>
              <a:t>Write a comprehensive system prompt for an AI agent called "StudyBuddy".</a:t>
            </a:r>
            <a:br/>
            <a:r>
              <a:t>It must:</a:t>
            </a:r>
            <a:br/>
            <a:r>
              <a:t>1. Act as a strict but encouraging Organic Chemistry tutor.</a:t>
            </a:r>
            <a:br/>
            <a:r>
              <a:t>2. Ask the student one question at a time.</a:t>
            </a:r>
            <a:br/>
            <a:r>
              <a:t>3. Wait for the user's answer before evaluating.</a:t>
            </a:r>
            <a:br/>
            <a:r>
              <a:t>4. Give a subtle hint if wrong; give celebration + next question if right.</a:t>
            </a:r>
            <a:br/>
            <a:r>
              <a:t>5. Never dump answers all at once.</a:t>
            </a:r>
          </a:p>
        </p:txBody>
      </p:sp>
      <p:sp>
        <p:nvSpPr>
          <p:cNvPr id="11" name="Rounded Rectangle 10"/>
          <p:cNvSpPr/>
          <p:nvPr/>
        </p:nvSpPr>
        <p:spPr>
          <a:xfrm>
            <a:off x="6217920" y="2377440"/>
            <a:ext cx="5212080" cy="3886200"/>
          </a:xfrm>
          <a:prstGeom prst="roundRect">
            <a:avLst/>
          </a:prstGeom>
          <a:solidFill>
            <a:srgbClr val="F8F9FA"/>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468880"/>
            <a:ext cx="4846320" cy="3703320"/>
          </a:xfrm>
          <a:prstGeom prst="rect">
            <a:avLst/>
          </a:prstGeom>
          <a:noFill/>
        </p:spPr>
        <p:txBody>
          <a:bodyPr wrap="square">
            <a:spAutoFit/>
          </a:bodyPr>
          <a:lstStyle/>
          <a:p>
            <a:pPr>
              <a:spcAft>
                <a:spcPts val="600"/>
              </a:spcAft>
              <a:defRPr sz="1050" b="1">
                <a:solidFill>
                  <a:srgbClr val="27AE60"/>
                </a:solidFill>
                <a:latin typeface="Segoe UI"/>
              </a:defRPr>
            </a:pPr>
            <a:r>
              <a:t>📤 EXACT AI MODEL OUTPUT</a:t>
            </a:r>
          </a:p>
          <a:p>
            <a:pPr>
              <a:defRPr sz="950">
                <a:solidFill>
                  <a:srgbClr val="2C3E50"/>
                </a:solidFill>
                <a:latin typeface="Segoe UI"/>
              </a:defRPr>
            </a:pPr>
            <a:r>
              <a:t>System Prompt for StudyBuddy:</a:t>
            </a:r>
            <a:br/>
            <a:br/>
            <a:r>
              <a:t>"You are StudyBuddy, an encouraging Organic Chemistry tutor.</a:t>
            </a:r>
            <a:br/>
            <a:r>
              <a:t>Rules:</a:t>
            </a:r>
            <a:br/>
            <a:r>
              <a:t>1. Present exactly ONE question at a time about reaction mechanisms or nomenclature.</a:t>
            </a:r>
            <a:br/>
            <a:r>
              <a:t>2. Stop and wait for the student to submit their answer.</a:t>
            </a:r>
            <a:br/>
            <a:r>
              <a:t>3. If correct: Celebrate briefly, explain why, then present Question N+1.</a:t>
            </a:r>
            <a:br/>
            <a:r>
              <a:t>4. If incorrect: Give ONE conceptual hint and ask them to retry. Do not reveal the answer.</a:t>
            </a:r>
            <a:br/>
            <a:r>
              <a:t>5. Keep explanations under 3 sentences."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51560"/>
          </a:xfrm>
          <a:prstGeom prst="rect">
            <a:avLst/>
          </a:prstGeom>
          <a:noFill/>
        </p:spPr>
        <p:txBody>
          <a:bodyPr wrap="square" lIns="0" tIns="0" rIns="0" bIns="0">
            <a:spAutoFit/>
          </a:bodyPr>
          <a:lstStyle/>
          <a:p>
            <a:pPr>
              <a:spcAft>
                <a:spcPts val="200"/>
              </a:spcAft>
              <a:defRPr sz="950" b="1">
                <a:solidFill>
                  <a:srgbClr val="3498DB"/>
                </a:solidFill>
                <a:latin typeface="Segoe UI"/>
              </a:defRPr>
            </a:pPr>
            <a:r>
              <a:t>FOUNDATIONAL PROMPTING TECHNIQUES</a:t>
            </a:r>
          </a:p>
          <a:p>
            <a:pPr>
              <a:spcAft>
                <a:spcPts val="400"/>
              </a:spcAft>
              <a:defRPr sz="2100" b="1">
                <a:solidFill>
                  <a:srgbClr val="2C3E50"/>
                </a:solidFill>
                <a:latin typeface="Segoe UI"/>
              </a:defRPr>
            </a:pPr>
            <a:r>
              <a:t>Technique 7: Iterative Refinement Prompting</a:t>
            </a:r>
          </a:p>
        </p:txBody>
      </p:sp>
      <p:sp>
        <p:nvSpPr>
          <p:cNvPr id="4" name="Rectangle 3"/>
          <p:cNvSpPr/>
          <p:nvPr/>
        </p:nvSpPr>
        <p:spPr>
          <a:xfrm>
            <a:off x="731520" y="1353312"/>
            <a:ext cx="10728655" cy="36576"/>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F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none" lIns="0" tIns="0" rIns="0" bIns="0">
            <a:spAutoFit/>
          </a:bodyPr>
          <a:lstStyle/>
          <a:p>
            <a:pPr>
              <a:defRPr sz="900">
                <a:solidFill>
                  <a:srgbClr val="7F8C8D"/>
                </a:solidFill>
                <a:latin typeface="Segoe UI"/>
              </a:defRPr>
            </a:pPr>
            <a:r>
              <a:t>AI &amp; Industry 4.0 Workshop  |  Prompt Frameworks &amp; Local Automation  •  Slide 16 of 35</a:t>
            </a:r>
          </a:p>
        </p:txBody>
      </p:sp>
      <p:sp>
        <p:nvSpPr>
          <p:cNvPr id="7" name="Rounded Rectangle 6"/>
          <p:cNvSpPr/>
          <p:nvPr/>
        </p:nvSpPr>
        <p:spPr>
          <a:xfrm>
            <a:off x="731520" y="1508760"/>
            <a:ext cx="10728655" cy="731520"/>
          </a:xfrm>
          <a:prstGeom prst="roundRect">
            <a:avLst/>
          </a:prstGeom>
          <a:solidFill>
            <a:srgbClr val="E8F4FD"/>
          </a:solidFill>
          <a:ln w="1905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54480"/>
            <a:ext cx="10362895" cy="640080"/>
          </a:xfrm>
          <a:prstGeom prst="rect">
            <a:avLst/>
          </a:prstGeom>
          <a:noFill/>
        </p:spPr>
        <p:txBody>
          <a:bodyPr wrap="square">
            <a:spAutoFit/>
          </a:bodyPr>
          <a:lstStyle/>
          <a:p>
            <a:pPr>
              <a:spcAft>
                <a:spcPts val="200"/>
              </a:spcAft>
              <a:defRPr sz="1050" b="1">
                <a:solidFill>
                  <a:srgbClr val="2C3E50"/>
                </a:solidFill>
                <a:latin typeface="Segoe UI"/>
              </a:defRPr>
            </a:pPr>
            <a:r>
              <a:t>💡 Formula: Improve output quality through conversational multi-turn feedback loops.</a:t>
            </a:r>
          </a:p>
          <a:p>
            <a:pPr>
              <a:defRPr sz="950">
                <a:solidFill>
                  <a:srgbClr val="2C3E50"/>
                </a:solidFill>
                <a:latin typeface="Segoe UI"/>
              </a:defRPr>
            </a:pPr>
            <a:r>
              <a:t>🎯 Student &amp; Campus Use Case: Refining an assignment deadline extension email to a professor.</a:t>
            </a:r>
          </a:p>
        </p:txBody>
      </p:sp>
      <p:sp>
        <p:nvSpPr>
          <p:cNvPr id="9" name="Rounded Rectangle 8"/>
          <p:cNvSpPr/>
          <p:nvPr/>
        </p:nvSpPr>
        <p:spPr>
          <a:xfrm>
            <a:off x="731520" y="2377440"/>
            <a:ext cx="5212080" cy="3886200"/>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468880"/>
            <a:ext cx="4846320" cy="3703320"/>
          </a:xfrm>
          <a:prstGeom prst="rect">
            <a:avLst/>
          </a:prstGeom>
          <a:noFill/>
        </p:spPr>
        <p:txBody>
          <a:bodyPr wrap="square">
            <a:spAutoFit/>
          </a:bodyPr>
          <a:lstStyle/>
          <a:p>
            <a:pPr>
              <a:spcAft>
                <a:spcPts val="600"/>
              </a:spcAft>
              <a:defRPr sz="1050" b="1">
                <a:solidFill>
                  <a:srgbClr val="38BDF8"/>
                </a:solidFill>
                <a:latin typeface="Segoe UI"/>
              </a:defRPr>
            </a:pPr>
            <a:r>
              <a:t>📥 COMPLETE INPUT PROMPT</a:t>
            </a:r>
          </a:p>
          <a:p>
            <a:pPr>
              <a:defRPr sz="900">
                <a:solidFill>
                  <a:srgbClr val="D4D4D4"/>
                </a:solidFill>
                <a:latin typeface="Consolas"/>
              </a:defRPr>
            </a:pPr>
            <a:r>
              <a:t>Turn 1: "Write an email to my professor asking for 2 more days on my lab report."</a:t>
            </a:r>
            <a:br/>
            <a:r>
              <a:t>Output 1: "Dear Professor, I hope you are having a wonderful week! I am writing to humbly request... [200 words of filler]"</a:t>
            </a:r>
            <a:br/>
            <a:br/>
            <a:r>
              <a:t>Turn 2: "Make it much shorter and formal. Mention my course code CS-201 and illness."</a:t>
            </a:r>
            <a:br/>
            <a:r>
              <a:t>Output 2: "Dear Prof. Ray, Due to fever, I request a 48-hr extension for CS-201 lab report."</a:t>
            </a:r>
            <a:br/>
            <a:br/>
            <a:r>
              <a:t>Turn 3: "Add my student ID (SSM-2024-104) and offer to attach medical certificate."</a:t>
            </a:r>
            <a:br/>
            <a:r>
              <a:t>Final Output:</a:t>
            </a:r>
          </a:p>
        </p:txBody>
      </p:sp>
      <p:sp>
        <p:nvSpPr>
          <p:cNvPr id="11" name="Rounded Rectangle 10"/>
          <p:cNvSpPr/>
          <p:nvPr/>
        </p:nvSpPr>
        <p:spPr>
          <a:xfrm>
            <a:off x="6217920" y="2377440"/>
            <a:ext cx="5212080" cy="3886200"/>
          </a:xfrm>
          <a:prstGeom prst="roundRect">
            <a:avLst/>
          </a:prstGeom>
          <a:solidFill>
            <a:srgbClr val="F8F9FA"/>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468880"/>
            <a:ext cx="4846320" cy="3703320"/>
          </a:xfrm>
          <a:prstGeom prst="rect">
            <a:avLst/>
          </a:prstGeom>
          <a:noFill/>
        </p:spPr>
        <p:txBody>
          <a:bodyPr wrap="square">
            <a:spAutoFit/>
          </a:bodyPr>
          <a:lstStyle/>
          <a:p>
            <a:pPr>
              <a:spcAft>
                <a:spcPts val="600"/>
              </a:spcAft>
              <a:defRPr sz="1050" b="1">
                <a:solidFill>
                  <a:srgbClr val="27AE60"/>
                </a:solidFill>
                <a:latin typeface="Segoe UI"/>
              </a:defRPr>
            </a:pPr>
            <a:r>
              <a:t>📤 EXACT AI MODEL OUTPUT</a:t>
            </a:r>
          </a:p>
          <a:p>
            <a:pPr>
              <a:defRPr sz="950">
                <a:solidFill>
                  <a:srgbClr val="2C3E50"/>
                </a:solidFill>
                <a:latin typeface="Segoe UI"/>
              </a:defRPr>
            </a:pPr>
            <a:r>
              <a:t>Subject: Extension Request: CS-201 Lab Report - SSM-2024-104</a:t>
            </a:r>
            <a:br/>
            <a:br/>
            <a:r>
              <a:t>Dear Prof. Ray,</a:t>
            </a:r>
            <a:br/>
            <a:br/>
            <a:r>
              <a:t>I am writing to request a 48-hour extension on my CS-201 Lab Report (original deadline: Oct 12) due to a viral fever. </a:t>
            </a:r>
            <a:br/>
            <a:br/>
            <a:r>
              <a:t>I have attached my medical certificate from the campus health center. Thank you for your consideration.</a:t>
            </a:r>
            <a:br/>
            <a:br/>
            <a:r>
              <a:t>Respectfully,</a:t>
            </a:r>
            <a:br/>
            <a:r>
              <a:t>Nageshwar Jha | ID: SSM-2024-104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51560"/>
          </a:xfrm>
          <a:prstGeom prst="rect">
            <a:avLst/>
          </a:prstGeom>
          <a:noFill/>
        </p:spPr>
        <p:txBody>
          <a:bodyPr wrap="square" lIns="0" tIns="0" rIns="0" bIns="0">
            <a:spAutoFit/>
          </a:bodyPr>
          <a:lstStyle/>
          <a:p>
            <a:pPr>
              <a:spcAft>
                <a:spcPts val="200"/>
              </a:spcAft>
              <a:defRPr sz="950" b="1">
                <a:solidFill>
                  <a:srgbClr val="3498DB"/>
                </a:solidFill>
                <a:latin typeface="Segoe UI"/>
              </a:defRPr>
            </a:pPr>
            <a:r>
              <a:t>FOUNDATIONAL PROMPTING TECHNIQUES</a:t>
            </a:r>
          </a:p>
          <a:p>
            <a:pPr>
              <a:spcAft>
                <a:spcPts val="400"/>
              </a:spcAft>
              <a:defRPr sz="2100" b="1">
                <a:solidFill>
                  <a:srgbClr val="2C3E50"/>
                </a:solidFill>
                <a:latin typeface="Segoe UI"/>
              </a:defRPr>
            </a:pPr>
            <a:r>
              <a:t>Technique 8: ReAct (Reason + Act) Agent Loop</a:t>
            </a:r>
          </a:p>
        </p:txBody>
      </p:sp>
      <p:sp>
        <p:nvSpPr>
          <p:cNvPr id="4" name="Rectangle 3"/>
          <p:cNvSpPr/>
          <p:nvPr/>
        </p:nvSpPr>
        <p:spPr>
          <a:xfrm>
            <a:off x="731520" y="1353312"/>
            <a:ext cx="10728655" cy="36576"/>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F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none" lIns="0" tIns="0" rIns="0" bIns="0">
            <a:spAutoFit/>
          </a:bodyPr>
          <a:lstStyle/>
          <a:p>
            <a:pPr>
              <a:defRPr sz="900">
                <a:solidFill>
                  <a:srgbClr val="7F8C8D"/>
                </a:solidFill>
                <a:latin typeface="Segoe UI"/>
              </a:defRPr>
            </a:pPr>
            <a:r>
              <a:t>AI &amp; Industry 4.0 Workshop  |  Prompt Frameworks &amp; Local Automation  •  Slide 17 of 35</a:t>
            </a:r>
          </a:p>
        </p:txBody>
      </p:sp>
      <p:sp>
        <p:nvSpPr>
          <p:cNvPr id="7" name="Rounded Rectangle 6"/>
          <p:cNvSpPr/>
          <p:nvPr/>
        </p:nvSpPr>
        <p:spPr>
          <a:xfrm>
            <a:off x="731520" y="1508760"/>
            <a:ext cx="10728655" cy="731520"/>
          </a:xfrm>
          <a:prstGeom prst="roundRect">
            <a:avLst/>
          </a:prstGeom>
          <a:solidFill>
            <a:srgbClr val="E8F4FD"/>
          </a:solidFill>
          <a:ln w="1905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54480"/>
            <a:ext cx="10362895" cy="640080"/>
          </a:xfrm>
          <a:prstGeom prst="rect">
            <a:avLst/>
          </a:prstGeom>
          <a:noFill/>
        </p:spPr>
        <p:txBody>
          <a:bodyPr wrap="square">
            <a:spAutoFit/>
          </a:bodyPr>
          <a:lstStyle/>
          <a:p>
            <a:pPr>
              <a:spcAft>
                <a:spcPts val="200"/>
              </a:spcAft>
              <a:defRPr sz="1050" b="1">
                <a:solidFill>
                  <a:srgbClr val="2C3E50"/>
                </a:solidFill>
                <a:latin typeface="Segoe UI"/>
              </a:defRPr>
            </a:pPr>
            <a:r>
              <a:t>💡 Formula: The foundation of AI agents: Thought -&gt; Action -&gt; Observation -&gt; Final Answer.</a:t>
            </a:r>
          </a:p>
          <a:p>
            <a:pPr>
              <a:defRPr sz="950">
                <a:solidFill>
                  <a:srgbClr val="2C3E50"/>
                </a:solidFill>
                <a:latin typeface="Segoe UI"/>
              </a:defRPr>
            </a:pPr>
            <a:r>
              <a:t>🎯 Student &amp; Campus Use Case: Autonomous library book search and hold reservation bot.</a:t>
            </a:r>
          </a:p>
        </p:txBody>
      </p:sp>
      <p:sp>
        <p:nvSpPr>
          <p:cNvPr id="9" name="Rounded Rectangle 8"/>
          <p:cNvSpPr/>
          <p:nvPr/>
        </p:nvSpPr>
        <p:spPr>
          <a:xfrm>
            <a:off x="731520" y="2377440"/>
            <a:ext cx="5212080" cy="3886200"/>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468880"/>
            <a:ext cx="4846320" cy="3703320"/>
          </a:xfrm>
          <a:prstGeom prst="rect">
            <a:avLst/>
          </a:prstGeom>
          <a:noFill/>
        </p:spPr>
        <p:txBody>
          <a:bodyPr wrap="square">
            <a:spAutoFit/>
          </a:bodyPr>
          <a:lstStyle/>
          <a:p>
            <a:pPr>
              <a:spcAft>
                <a:spcPts val="600"/>
              </a:spcAft>
              <a:defRPr sz="1050" b="1">
                <a:solidFill>
                  <a:srgbClr val="38BDF8"/>
                </a:solidFill>
                <a:latin typeface="Segoe UI"/>
              </a:defRPr>
            </a:pPr>
            <a:r>
              <a:t>📥 COMPLETE INPUT PROMPT</a:t>
            </a:r>
          </a:p>
          <a:p>
            <a:pPr>
              <a:defRPr sz="900">
                <a:solidFill>
                  <a:srgbClr val="D4D4D4"/>
                </a:solidFill>
                <a:latin typeface="Consolas"/>
              </a:defRPr>
            </a:pPr>
            <a:r>
              <a:t>Goal: Check if 'Clean Code' book is available in college library and reserve it.</a:t>
            </a:r>
            <a:br/>
            <a:br/>
            <a:r>
              <a:t>Agent Execution Trace:</a:t>
            </a:r>
            <a:br/>
            <a:r>
              <a:t>Thought: I need to query the college library catalog database.</a:t>
            </a:r>
            <a:br/>
            <a:r>
              <a:t>Action: library_search(title="Clean Code")</a:t>
            </a:r>
            <a:br/>
            <a:r>
              <a:t>Observation: Found 1 copy available, Shelf 4B, Barcode #98231.</a:t>
            </a:r>
            <a:br/>
            <a:r>
              <a:t>Thought: The book is on the shelf. I should place an active hold for the student.</a:t>
            </a:r>
            <a:br/>
            <a:r>
              <a:t>Action: place_reservation(barcode="98231", student_id="SSM-104")</a:t>
            </a:r>
            <a:br/>
            <a:r>
              <a:t>Observation: Reservation confirmed. Hold valid for 24 hours until Oct 13, 5 PM.</a:t>
            </a:r>
            <a:br/>
            <a:r>
              <a:t>Final Answer:</a:t>
            </a:r>
          </a:p>
        </p:txBody>
      </p:sp>
      <p:sp>
        <p:nvSpPr>
          <p:cNvPr id="11" name="Rounded Rectangle 10"/>
          <p:cNvSpPr/>
          <p:nvPr/>
        </p:nvSpPr>
        <p:spPr>
          <a:xfrm>
            <a:off x="6217920" y="2377440"/>
            <a:ext cx="5212080" cy="3886200"/>
          </a:xfrm>
          <a:prstGeom prst="roundRect">
            <a:avLst/>
          </a:prstGeom>
          <a:solidFill>
            <a:srgbClr val="F8F9FA"/>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468880"/>
            <a:ext cx="4846320" cy="3703320"/>
          </a:xfrm>
          <a:prstGeom prst="rect">
            <a:avLst/>
          </a:prstGeom>
          <a:noFill/>
        </p:spPr>
        <p:txBody>
          <a:bodyPr wrap="square">
            <a:spAutoFit/>
          </a:bodyPr>
          <a:lstStyle/>
          <a:p>
            <a:pPr>
              <a:spcAft>
                <a:spcPts val="600"/>
              </a:spcAft>
              <a:defRPr sz="1050" b="1">
                <a:solidFill>
                  <a:srgbClr val="27AE60"/>
                </a:solidFill>
                <a:latin typeface="Segoe UI"/>
              </a:defRPr>
            </a:pPr>
            <a:r>
              <a:t>📤 EXACT AI MODEL OUTPUT</a:t>
            </a:r>
          </a:p>
          <a:p>
            <a:pPr>
              <a:defRPr sz="950">
                <a:solidFill>
                  <a:srgbClr val="2C3E50"/>
                </a:solidFill>
                <a:latin typeface="Segoe UI"/>
              </a:defRPr>
            </a:pPr>
            <a:r>
              <a:t>Success! 'Clean Code' has been reserved under your student ID (SSM-104). </a:t>
            </a:r>
            <a:br/>
            <a:r>
              <a:t>It is held at the Main Desk (Shelf 4B, Barcode #98231). Please pick it up before Oct 13, 5:00 PM.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51560"/>
          </a:xfrm>
          <a:prstGeom prst="rect">
            <a:avLst/>
          </a:prstGeom>
          <a:noFill/>
        </p:spPr>
        <p:txBody>
          <a:bodyPr wrap="square" lIns="0" tIns="0" rIns="0" bIns="0">
            <a:spAutoFit/>
          </a:bodyPr>
          <a:lstStyle/>
          <a:p>
            <a:pPr>
              <a:spcAft>
                <a:spcPts val="200"/>
              </a:spcAft>
              <a:defRPr sz="950" b="1">
                <a:solidFill>
                  <a:srgbClr val="3498DB"/>
                </a:solidFill>
                <a:latin typeface="Segoe UI"/>
              </a:defRPr>
            </a:pPr>
            <a:r>
              <a:t>PROMPT FRAMEWORKS FOR STUDENTS</a:t>
            </a:r>
          </a:p>
          <a:p>
            <a:pPr>
              <a:spcAft>
                <a:spcPts val="200"/>
              </a:spcAft>
              <a:defRPr sz="2100" b="1">
                <a:solidFill>
                  <a:srgbClr val="2C3E50"/>
                </a:solidFill>
                <a:latin typeface="Segoe UI"/>
              </a:defRPr>
            </a:pPr>
            <a:r>
              <a:t>Framework 1: RTF (Role, Task, Format)</a:t>
            </a:r>
          </a:p>
          <a:p>
            <a:pPr>
              <a:defRPr sz="1100">
                <a:solidFill>
                  <a:srgbClr val="7F8C8D"/>
                </a:solidFill>
                <a:latin typeface="Segoe UI"/>
              </a:defRPr>
            </a:pPr>
            <a:r>
              <a:t>Direct, straightforward text generation and rapid code debugging.</a:t>
            </a:r>
          </a:p>
        </p:txBody>
      </p:sp>
      <p:sp>
        <p:nvSpPr>
          <p:cNvPr id="4" name="Rectangle 3"/>
          <p:cNvSpPr/>
          <p:nvPr/>
        </p:nvSpPr>
        <p:spPr>
          <a:xfrm>
            <a:off x="731520" y="1353312"/>
            <a:ext cx="10728655" cy="36576"/>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F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none" lIns="0" tIns="0" rIns="0" bIns="0">
            <a:spAutoFit/>
          </a:bodyPr>
          <a:lstStyle/>
          <a:p>
            <a:pPr>
              <a:defRPr sz="900">
                <a:solidFill>
                  <a:srgbClr val="7F8C8D"/>
                </a:solidFill>
                <a:latin typeface="Segoe UI"/>
              </a:defRPr>
            </a:pPr>
            <a:r>
              <a:t>AI &amp; Industry 4.0 Workshop  |  Prompt Frameworks &amp; Local Automation  •  Slide 18 of 35</a:t>
            </a:r>
          </a:p>
        </p:txBody>
      </p:sp>
      <p:sp>
        <p:nvSpPr>
          <p:cNvPr id="7" name="Rounded Rectangle 6"/>
          <p:cNvSpPr/>
          <p:nvPr/>
        </p:nvSpPr>
        <p:spPr>
          <a:xfrm>
            <a:off x="731520" y="1508760"/>
            <a:ext cx="10728655" cy="731520"/>
          </a:xfrm>
          <a:prstGeom prst="roundRect">
            <a:avLst/>
          </a:prstGeom>
          <a:solidFill>
            <a:srgbClr val="E8F4FD"/>
          </a:solidFill>
          <a:ln w="1905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54480"/>
            <a:ext cx="10362895" cy="640080"/>
          </a:xfrm>
          <a:prstGeom prst="rect">
            <a:avLst/>
          </a:prstGeom>
          <a:noFill/>
        </p:spPr>
        <p:txBody>
          <a:bodyPr wrap="square">
            <a:spAutoFit/>
          </a:bodyPr>
          <a:lstStyle/>
          <a:p>
            <a:pPr>
              <a:spcAft>
                <a:spcPts val="200"/>
              </a:spcAft>
              <a:defRPr sz="1050" b="1">
                <a:solidFill>
                  <a:srgbClr val="2C3E50"/>
                </a:solidFill>
                <a:latin typeface="Segoe UI"/>
              </a:defRPr>
            </a:pPr>
            <a:r>
              <a:t>💡 Formula: Role + Task + Format</a:t>
            </a:r>
          </a:p>
          <a:p>
            <a:pPr>
              <a:defRPr sz="950">
                <a:solidFill>
                  <a:srgbClr val="2C3E50"/>
                </a:solidFill>
                <a:latin typeface="Segoe UI"/>
              </a:defRPr>
            </a:pPr>
            <a:r>
              <a:t>🎯 Student &amp; Campus Use Case: Direct, straightforward text generation and quick code tweaks for lab assignments.</a:t>
            </a:r>
          </a:p>
        </p:txBody>
      </p:sp>
      <p:sp>
        <p:nvSpPr>
          <p:cNvPr id="9" name="Rounded Rectangle 8"/>
          <p:cNvSpPr/>
          <p:nvPr/>
        </p:nvSpPr>
        <p:spPr>
          <a:xfrm>
            <a:off x="731520" y="2377440"/>
            <a:ext cx="5212080" cy="3886200"/>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468880"/>
            <a:ext cx="4846320" cy="3703320"/>
          </a:xfrm>
          <a:prstGeom prst="rect">
            <a:avLst/>
          </a:prstGeom>
          <a:noFill/>
        </p:spPr>
        <p:txBody>
          <a:bodyPr wrap="square">
            <a:spAutoFit/>
          </a:bodyPr>
          <a:lstStyle/>
          <a:p>
            <a:pPr>
              <a:spcAft>
                <a:spcPts val="600"/>
              </a:spcAft>
              <a:defRPr sz="1050" b="1">
                <a:solidFill>
                  <a:srgbClr val="38BDF8"/>
                </a:solidFill>
                <a:latin typeface="Segoe UI"/>
              </a:defRPr>
            </a:pPr>
            <a:r>
              <a:t>📥 COMPLETE INPUT PROMPT</a:t>
            </a:r>
          </a:p>
          <a:p>
            <a:pPr>
              <a:defRPr sz="900">
                <a:solidFill>
                  <a:srgbClr val="D4D4D4"/>
                </a:solidFill>
                <a:latin typeface="Consolas"/>
              </a:defRPr>
            </a:pPr>
            <a:r>
              <a:t>[Role]: Act as a Senior Python Teaching Assistant.</a:t>
            </a:r>
            <a:br/>
            <a:r>
              <a:t>[Task]: Write a Python script using requests &amp; BeautifulSoup to scrape the latest notice headline from 'ssmahavidyalaya.edu.in/blog/'. Add error handling for HTTP 404/500 errors.</a:t>
            </a:r>
            <a:br/>
            <a:r>
              <a:t>[Format]:</a:t>
            </a:r>
            <a:br/>
            <a:r>
              <a:t>- Python code block with inline comments</a:t>
            </a:r>
            <a:br/>
            <a:r>
              <a:t>- 2-sentence explanation of how the try-except block works</a:t>
            </a:r>
            <a:br/>
            <a:r>
              <a:t>- Output ONLY code and explanation.</a:t>
            </a:r>
          </a:p>
        </p:txBody>
      </p:sp>
      <p:sp>
        <p:nvSpPr>
          <p:cNvPr id="11" name="Rounded Rectangle 10"/>
          <p:cNvSpPr/>
          <p:nvPr/>
        </p:nvSpPr>
        <p:spPr>
          <a:xfrm>
            <a:off x="6217920" y="2377440"/>
            <a:ext cx="5212080" cy="3886200"/>
          </a:xfrm>
          <a:prstGeom prst="roundRect">
            <a:avLst/>
          </a:prstGeom>
          <a:solidFill>
            <a:srgbClr val="F8F9FA"/>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468880"/>
            <a:ext cx="4846320" cy="3703320"/>
          </a:xfrm>
          <a:prstGeom prst="rect">
            <a:avLst/>
          </a:prstGeom>
          <a:noFill/>
        </p:spPr>
        <p:txBody>
          <a:bodyPr wrap="square">
            <a:spAutoFit/>
          </a:bodyPr>
          <a:lstStyle/>
          <a:p>
            <a:pPr>
              <a:spcAft>
                <a:spcPts val="600"/>
              </a:spcAft>
              <a:defRPr sz="1050" b="1">
                <a:solidFill>
                  <a:srgbClr val="27AE60"/>
                </a:solidFill>
                <a:latin typeface="Segoe UI"/>
              </a:defRPr>
            </a:pPr>
            <a:r>
              <a:t>📤 EXACT AI MODEL OUTPUT</a:t>
            </a:r>
          </a:p>
          <a:p>
            <a:pPr>
              <a:defRPr sz="950">
                <a:solidFill>
                  <a:srgbClr val="2C3E50"/>
                </a:solidFill>
                <a:latin typeface="Segoe UI"/>
              </a:defRPr>
            </a:pPr>
            <a:r>
              <a:t>```python</a:t>
            </a:r>
            <a:br/>
            <a:r>
              <a:t>import requests</a:t>
            </a:r>
            <a:br/>
            <a:r>
              <a:t>from bs4 import BeautifulSoup</a:t>
            </a:r>
            <a:br/>
            <a:br/>
            <a:r>
              <a:t>url = "https://ssmahavidyalaya.edu.in/blog/"</a:t>
            </a:r>
            <a:br/>
            <a:r>
              <a:t>try:</a:t>
            </a:r>
            <a:br/>
            <a:r>
              <a:t>    response = requests.get(url, timeout=10)</a:t>
            </a:r>
            <a:br/>
            <a:r>
              <a:t>    response.raise_for_status()  # Catch HTTP errors</a:t>
            </a:r>
            <a:br/>
            <a:r>
              <a:t>    soup = BeautifulSoup(response.text, 'html.parser')</a:t>
            </a:r>
            <a:br/>
            <a:r>
              <a:t>    latest_notice = soup.find('h2', class_='entry-title').text.strip()</a:t>
            </a:r>
            <a:br/>
            <a:r>
              <a:t>    print(f"Latest Notice: {latest_notice}")</a:t>
            </a:r>
            <a:br/>
            <a:r>
              <a:t>except requests.exceptions.RequestException as e:</a:t>
            </a:r>
            <a:br/>
            <a:r>
              <a:t>    print(f"Scraping Error: {e}")</a:t>
            </a:r>
            <a:br/>
            <a:r>
              <a:t>```</a:t>
            </a:r>
            <a:br/>
            <a:r>
              <a:t>Explanation:</a:t>
            </a:r>
            <a:br/>
            <a:r>
              <a:t>The script uses `response.raise_for_status()` to flag 4xx and 5xx HTTP errors immediately. Any network or timeout failure is caught by the `RequestException` block, preventing program crashes.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51560"/>
          </a:xfrm>
          <a:prstGeom prst="rect">
            <a:avLst/>
          </a:prstGeom>
          <a:noFill/>
        </p:spPr>
        <p:txBody>
          <a:bodyPr wrap="square" lIns="0" tIns="0" rIns="0" bIns="0">
            <a:spAutoFit/>
          </a:bodyPr>
          <a:lstStyle/>
          <a:p>
            <a:pPr>
              <a:spcAft>
                <a:spcPts val="200"/>
              </a:spcAft>
              <a:defRPr sz="950" b="1">
                <a:solidFill>
                  <a:srgbClr val="3498DB"/>
                </a:solidFill>
                <a:latin typeface="Segoe UI"/>
              </a:defRPr>
            </a:pPr>
            <a:r>
              <a:t>PROMPT FRAMEWORKS FOR STUDENTS</a:t>
            </a:r>
          </a:p>
          <a:p>
            <a:pPr>
              <a:spcAft>
                <a:spcPts val="200"/>
              </a:spcAft>
              <a:defRPr sz="2100" b="1">
                <a:solidFill>
                  <a:srgbClr val="2C3E50"/>
                </a:solidFill>
                <a:latin typeface="Segoe UI"/>
              </a:defRPr>
            </a:pPr>
            <a:r>
              <a:t>Framework 2: TAG (Task, Action, Goal)</a:t>
            </a:r>
          </a:p>
          <a:p>
            <a:pPr>
              <a:defRPr sz="1100">
                <a:solidFill>
                  <a:srgbClr val="7F8C8D"/>
                </a:solidFill>
                <a:latin typeface="Segoe UI"/>
              </a:defRPr>
            </a:pPr>
            <a:r>
              <a:t>Aligns day-to-day student actions with clear, measurable academic or club goals.</a:t>
            </a:r>
          </a:p>
        </p:txBody>
      </p:sp>
      <p:sp>
        <p:nvSpPr>
          <p:cNvPr id="4" name="Rectangle 3"/>
          <p:cNvSpPr/>
          <p:nvPr/>
        </p:nvSpPr>
        <p:spPr>
          <a:xfrm>
            <a:off x="731520" y="1353312"/>
            <a:ext cx="10728655" cy="36576"/>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F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none" lIns="0" tIns="0" rIns="0" bIns="0">
            <a:spAutoFit/>
          </a:bodyPr>
          <a:lstStyle/>
          <a:p>
            <a:pPr>
              <a:defRPr sz="900">
                <a:solidFill>
                  <a:srgbClr val="7F8C8D"/>
                </a:solidFill>
                <a:latin typeface="Segoe UI"/>
              </a:defRPr>
            </a:pPr>
            <a:r>
              <a:t>AI &amp; Industry 4.0 Workshop  |  Prompt Frameworks &amp; Local Automation  •  Slide 19 of 35</a:t>
            </a:r>
          </a:p>
        </p:txBody>
      </p:sp>
      <p:sp>
        <p:nvSpPr>
          <p:cNvPr id="7" name="Rounded Rectangle 6"/>
          <p:cNvSpPr/>
          <p:nvPr/>
        </p:nvSpPr>
        <p:spPr>
          <a:xfrm>
            <a:off x="731520" y="1508760"/>
            <a:ext cx="10728655" cy="731520"/>
          </a:xfrm>
          <a:prstGeom prst="roundRect">
            <a:avLst/>
          </a:prstGeom>
          <a:solidFill>
            <a:srgbClr val="E8F4FD"/>
          </a:solidFill>
          <a:ln w="1905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54480"/>
            <a:ext cx="10362895" cy="640080"/>
          </a:xfrm>
          <a:prstGeom prst="rect">
            <a:avLst/>
          </a:prstGeom>
          <a:noFill/>
        </p:spPr>
        <p:txBody>
          <a:bodyPr wrap="square">
            <a:spAutoFit/>
          </a:bodyPr>
          <a:lstStyle/>
          <a:p>
            <a:pPr>
              <a:spcAft>
                <a:spcPts val="200"/>
              </a:spcAft>
              <a:defRPr sz="1050" b="1">
                <a:solidFill>
                  <a:srgbClr val="2C3E50"/>
                </a:solidFill>
                <a:latin typeface="Segoe UI"/>
              </a:defRPr>
            </a:pPr>
            <a:r>
              <a:t>💡 Formula: Task + Action + Goal</a:t>
            </a:r>
          </a:p>
          <a:p>
            <a:pPr>
              <a:defRPr sz="950">
                <a:solidFill>
                  <a:srgbClr val="2C3E50"/>
                </a:solidFill>
                <a:latin typeface="Segoe UI"/>
              </a:defRPr>
            </a:pPr>
            <a:r>
              <a:t>🎯 Student &amp; Campus Use Case: Aligning daily student actions with a concrete academic or club milestone.</a:t>
            </a:r>
          </a:p>
        </p:txBody>
      </p:sp>
      <p:sp>
        <p:nvSpPr>
          <p:cNvPr id="9" name="Rounded Rectangle 8"/>
          <p:cNvSpPr/>
          <p:nvPr/>
        </p:nvSpPr>
        <p:spPr>
          <a:xfrm>
            <a:off x="731520" y="2377440"/>
            <a:ext cx="5212080" cy="3886200"/>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468880"/>
            <a:ext cx="4846320" cy="3703320"/>
          </a:xfrm>
          <a:prstGeom prst="rect">
            <a:avLst/>
          </a:prstGeom>
          <a:noFill/>
        </p:spPr>
        <p:txBody>
          <a:bodyPr wrap="square">
            <a:spAutoFit/>
          </a:bodyPr>
          <a:lstStyle/>
          <a:p>
            <a:pPr>
              <a:spcAft>
                <a:spcPts val="600"/>
              </a:spcAft>
              <a:defRPr sz="1050" b="1">
                <a:solidFill>
                  <a:srgbClr val="38BDF8"/>
                </a:solidFill>
                <a:latin typeface="Segoe UI"/>
              </a:defRPr>
            </a:pPr>
            <a:r>
              <a:t>📥 COMPLETE INPUT PROMPT</a:t>
            </a:r>
          </a:p>
          <a:p>
            <a:pPr>
              <a:defRPr sz="900">
                <a:solidFill>
                  <a:srgbClr val="D4D4D4"/>
                </a:solidFill>
                <a:latin typeface="Consolas"/>
              </a:defRPr>
            </a:pPr>
            <a:r>
              <a:t>[Task]: Organize a 1-day campus AI &amp; Web3 workshop before midterm week.</a:t>
            </a:r>
            <a:br/>
            <a:r>
              <a:t>[Action]: Draft an executive sponsorship email pitch to the Head of the Department (HOD) requesting permission and auditorium access.</a:t>
            </a:r>
            <a:br/>
            <a:r>
              <a:t>[Goal]: Secure official department approval, faculty sponsorship, and access to the main seminar hall without budget friction.</a:t>
            </a:r>
          </a:p>
        </p:txBody>
      </p:sp>
      <p:sp>
        <p:nvSpPr>
          <p:cNvPr id="11" name="Rounded Rectangle 10"/>
          <p:cNvSpPr/>
          <p:nvPr/>
        </p:nvSpPr>
        <p:spPr>
          <a:xfrm>
            <a:off x="6217920" y="2377440"/>
            <a:ext cx="5212080" cy="3886200"/>
          </a:xfrm>
          <a:prstGeom prst="roundRect">
            <a:avLst/>
          </a:prstGeom>
          <a:solidFill>
            <a:srgbClr val="F8F9FA"/>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468880"/>
            <a:ext cx="4846320" cy="3703320"/>
          </a:xfrm>
          <a:prstGeom prst="rect">
            <a:avLst/>
          </a:prstGeom>
          <a:noFill/>
        </p:spPr>
        <p:txBody>
          <a:bodyPr wrap="square">
            <a:spAutoFit/>
          </a:bodyPr>
          <a:lstStyle/>
          <a:p>
            <a:pPr>
              <a:spcAft>
                <a:spcPts val="600"/>
              </a:spcAft>
              <a:defRPr sz="1050" b="1">
                <a:solidFill>
                  <a:srgbClr val="27AE60"/>
                </a:solidFill>
                <a:latin typeface="Segoe UI"/>
              </a:defRPr>
            </a:pPr>
            <a:r>
              <a:t>📤 EXACT AI MODEL OUTPUT</a:t>
            </a:r>
          </a:p>
          <a:p>
            <a:pPr>
              <a:defRPr sz="950">
                <a:solidFill>
                  <a:srgbClr val="2C3E50"/>
                </a:solidFill>
                <a:latin typeface="Segoe UI"/>
              </a:defRPr>
            </a:pPr>
            <a:r>
              <a:t>Subject: Proposal: 1-Day Student AI &amp; Hands-on Automation Workshop</a:t>
            </a:r>
            <a:br/>
            <a:br/>
            <a:r>
              <a:t>Dear Prof. Mukherjee (Head of Department),</a:t>
            </a:r>
            <a:br/>
            <a:br/>
            <a:r>
              <a:t>Our student tech club proposes hosting a 1-day, zero-cost workshop: "Hands-on AI Automation for Student Innovators" on Saturday, Oct 24 in the Main Seminar Hall.</a:t>
            </a:r>
            <a:br/>
            <a:br/>
            <a:r>
              <a:t>Key Benefits for Department Students:</a:t>
            </a:r>
            <a:br/>
            <a:r>
              <a:t>1. Practical exposure: Students will run local AI models (Ollama) with 0 API costs.</a:t>
            </a:r>
            <a:br/>
            <a:r>
              <a:t>2. Skill building: Building automated scrapers for college research and portals.</a:t>
            </a:r>
            <a:br/>
            <a:r>
              <a:t>3. Zero budget required: Club members provide mentors and open-source tooling.</a:t>
            </a:r>
            <a:br/>
            <a:br/>
            <a:r>
              <a:t>We kindly request your approval for seminar hall reservation (10 AM - 4 PM) and department sponsorship. We are available at your convenience this week to present our workshop schedule.</a:t>
            </a:r>
            <a:br/>
            <a:br/>
            <a:r>
              <a:t>Respectfully,</a:t>
            </a:r>
            <a:br/>
            <a:r>
              <a:t>Nageshwar Jha | President, Student Tech Society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51560"/>
          </a:xfrm>
          <a:prstGeom prst="rect">
            <a:avLst/>
          </a:prstGeom>
          <a:noFill/>
        </p:spPr>
        <p:txBody>
          <a:bodyPr wrap="square" lIns="0" tIns="0" rIns="0" bIns="0">
            <a:spAutoFit/>
          </a:bodyPr>
          <a:lstStyle/>
          <a:p>
            <a:pPr>
              <a:spcAft>
                <a:spcPts val="200"/>
              </a:spcAft>
              <a:defRPr sz="950" b="1">
                <a:solidFill>
                  <a:srgbClr val="3498DB"/>
                </a:solidFill>
                <a:latin typeface="Segoe UI"/>
              </a:defRPr>
            </a:pPr>
            <a:r>
              <a:t>PROMPT FRAMEWORKS FOR STUDENTS</a:t>
            </a:r>
          </a:p>
          <a:p>
            <a:pPr>
              <a:spcAft>
                <a:spcPts val="200"/>
              </a:spcAft>
              <a:defRPr sz="2100" b="1">
                <a:solidFill>
                  <a:srgbClr val="2C3E50"/>
                </a:solidFill>
                <a:latin typeface="Segoe UI"/>
              </a:defRPr>
            </a:pPr>
            <a:r>
              <a:t>Framework 3: RACE (Role, Action, Context, Expectation)</a:t>
            </a:r>
          </a:p>
          <a:p>
            <a:pPr>
              <a:defRPr sz="1100">
                <a:solidFill>
                  <a:srgbClr val="7F8C8D"/>
                </a:solidFill>
                <a:latin typeface="Segoe UI"/>
              </a:defRPr>
            </a:pPr>
            <a:r>
              <a:t>Operational, team-focused communications for student committees and event management.</a:t>
            </a:r>
          </a:p>
        </p:txBody>
      </p:sp>
      <p:sp>
        <p:nvSpPr>
          <p:cNvPr id="4" name="Rectangle 3"/>
          <p:cNvSpPr/>
          <p:nvPr/>
        </p:nvSpPr>
        <p:spPr>
          <a:xfrm>
            <a:off x="731520" y="1353312"/>
            <a:ext cx="10728655" cy="36576"/>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F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none" lIns="0" tIns="0" rIns="0" bIns="0">
            <a:spAutoFit/>
          </a:bodyPr>
          <a:lstStyle/>
          <a:p>
            <a:pPr>
              <a:defRPr sz="900">
                <a:solidFill>
                  <a:srgbClr val="7F8C8D"/>
                </a:solidFill>
                <a:latin typeface="Segoe UI"/>
              </a:defRPr>
            </a:pPr>
            <a:r>
              <a:t>AI &amp; Industry 4.0 Workshop  |  Prompt Frameworks &amp; Local Automation  •  Slide 20 of 35</a:t>
            </a:r>
          </a:p>
        </p:txBody>
      </p:sp>
      <p:sp>
        <p:nvSpPr>
          <p:cNvPr id="7" name="Rounded Rectangle 6"/>
          <p:cNvSpPr/>
          <p:nvPr/>
        </p:nvSpPr>
        <p:spPr>
          <a:xfrm>
            <a:off x="731520" y="1508760"/>
            <a:ext cx="10728655" cy="731520"/>
          </a:xfrm>
          <a:prstGeom prst="roundRect">
            <a:avLst/>
          </a:prstGeom>
          <a:solidFill>
            <a:srgbClr val="E8F4FD"/>
          </a:solidFill>
          <a:ln w="1905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54480"/>
            <a:ext cx="10362895" cy="640080"/>
          </a:xfrm>
          <a:prstGeom prst="rect">
            <a:avLst/>
          </a:prstGeom>
          <a:noFill/>
        </p:spPr>
        <p:txBody>
          <a:bodyPr wrap="square">
            <a:spAutoFit/>
          </a:bodyPr>
          <a:lstStyle/>
          <a:p>
            <a:pPr>
              <a:spcAft>
                <a:spcPts val="200"/>
              </a:spcAft>
              <a:defRPr sz="1050" b="1">
                <a:solidFill>
                  <a:srgbClr val="2C3E50"/>
                </a:solidFill>
                <a:latin typeface="Segoe UI"/>
              </a:defRPr>
            </a:pPr>
            <a:r>
              <a:t>💡 Formula: Role + Action + Context + Expectation</a:t>
            </a:r>
          </a:p>
          <a:p>
            <a:pPr>
              <a:defRPr sz="950">
                <a:solidFill>
                  <a:srgbClr val="2C3E50"/>
                </a:solidFill>
                <a:latin typeface="Segoe UI"/>
              </a:defRPr>
            </a:pPr>
            <a:r>
              <a:t>🎯 Student &amp; Campus Use Case: Operational, team-focused communications for student committees and fest management.</a:t>
            </a:r>
          </a:p>
        </p:txBody>
      </p:sp>
      <p:sp>
        <p:nvSpPr>
          <p:cNvPr id="9" name="Rounded Rectangle 8"/>
          <p:cNvSpPr/>
          <p:nvPr/>
        </p:nvSpPr>
        <p:spPr>
          <a:xfrm>
            <a:off x="731520" y="2377440"/>
            <a:ext cx="5212080" cy="3886200"/>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468880"/>
            <a:ext cx="4846320" cy="3703320"/>
          </a:xfrm>
          <a:prstGeom prst="rect">
            <a:avLst/>
          </a:prstGeom>
          <a:noFill/>
        </p:spPr>
        <p:txBody>
          <a:bodyPr wrap="square">
            <a:spAutoFit/>
          </a:bodyPr>
          <a:lstStyle/>
          <a:p>
            <a:pPr>
              <a:spcAft>
                <a:spcPts val="600"/>
              </a:spcAft>
              <a:defRPr sz="1050" b="1">
                <a:solidFill>
                  <a:srgbClr val="38BDF8"/>
                </a:solidFill>
                <a:latin typeface="Segoe UI"/>
              </a:defRPr>
            </a:pPr>
            <a:r>
              <a:t>📥 COMPLETE INPUT PROMPT</a:t>
            </a:r>
          </a:p>
          <a:p>
            <a:pPr>
              <a:defRPr sz="900">
                <a:solidFill>
                  <a:srgbClr val="D4D4D4"/>
                </a:solidFill>
                <a:latin typeface="Consolas"/>
              </a:defRPr>
            </a:pPr>
            <a:r>
              <a:t>[Role]: Lead Logistics Coordinator for the College Annual Fest 'Waves 2026'.</a:t>
            </a:r>
            <a:br/>
            <a:r>
              <a:t>[Action]: Write an operational coordination message for the 15 student stage volunteers.</a:t>
            </a:r>
            <a:br/>
            <a:r>
              <a:t>[Context]: Sound checks start in 45 minutes; the headlining band's bus is delayed by 30 mins; crowd entry opens at 4:30 PM.</a:t>
            </a:r>
            <a:br/>
            <a:r>
              <a:t>[Expectation]: High-urgency checklist detailing exact stage positions, walkie-talkie channels, and crowd barricade protocols.</a:t>
            </a:r>
          </a:p>
        </p:txBody>
      </p:sp>
      <p:sp>
        <p:nvSpPr>
          <p:cNvPr id="11" name="Rounded Rectangle 10"/>
          <p:cNvSpPr/>
          <p:nvPr/>
        </p:nvSpPr>
        <p:spPr>
          <a:xfrm>
            <a:off x="6217920" y="2377440"/>
            <a:ext cx="5212080" cy="3886200"/>
          </a:xfrm>
          <a:prstGeom prst="roundRect">
            <a:avLst/>
          </a:prstGeom>
          <a:solidFill>
            <a:srgbClr val="F8F9FA"/>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468880"/>
            <a:ext cx="4846320" cy="3703320"/>
          </a:xfrm>
          <a:prstGeom prst="rect">
            <a:avLst/>
          </a:prstGeom>
          <a:noFill/>
        </p:spPr>
        <p:txBody>
          <a:bodyPr wrap="square">
            <a:spAutoFit/>
          </a:bodyPr>
          <a:lstStyle/>
          <a:p>
            <a:pPr>
              <a:spcAft>
                <a:spcPts val="600"/>
              </a:spcAft>
              <a:defRPr sz="1050" b="1">
                <a:solidFill>
                  <a:srgbClr val="27AE60"/>
                </a:solidFill>
                <a:latin typeface="Segoe UI"/>
              </a:defRPr>
            </a:pPr>
            <a:r>
              <a:t>📤 EXACT AI MODEL OUTPUT</a:t>
            </a:r>
          </a:p>
          <a:p>
            <a:pPr>
              <a:defRPr sz="950">
                <a:solidFill>
                  <a:srgbClr val="2C3E50"/>
                </a:solidFill>
                <a:latin typeface="Segoe UI"/>
              </a:defRPr>
            </a:pPr>
            <a:r>
              <a:t>🚨 OPERATIONAL DISPATCH: STAGE VOLUNTEERS (URGENT)</a:t>
            </a:r>
            <a:br/>
            <a:br/>
            <a:r>
              <a:t>Team, we have a live schedule adjustment. Read carefully:</a:t>
            </a:r>
            <a:br/>
            <a:br/>
            <a:r>
              <a:t>Situation Update:</a:t>
            </a:r>
            <a:br/>
            <a:r>
              <a:t>• Headliner bus delayed 30 mins (Soundcheck shifts to 3:45 PM).</a:t>
            </a:r>
            <a:br/>
            <a:r>
              <a:t>• Gates open promptly at 4:30 PM (No delay on gate timing).</a:t>
            </a:r>
            <a:br/>
            <a:br/>
            <a:r>
              <a:t>Immediate Action Protocols:</a:t>
            </a:r>
            <a:br/>
            <a:r>
              <a:t>1. Channel Check: Switch all walkie-talkies to Channel 3 immediately.</a:t>
            </a:r>
            <a:br/>
            <a:r>
              <a:t>2. Barricade Line (Volunteers 1-8): Lock perimeter gates; verify student wristbands at Entry A.</a:t>
            </a:r>
            <a:br/>
            <a:r>
              <a:t>3. Green Room &amp; Stage (Volunteers 9-15): Guard backstage ramp; escort audio technicians only.</a:t>
            </a:r>
            <a:br/>
            <a:br/>
            <a:r>
              <a:t>No unauthorized backstage access under any circumstances. Report any incident via Channel 3. Let's make it a stellar show!</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51560"/>
          </a:xfrm>
          <a:prstGeom prst="rect">
            <a:avLst/>
          </a:prstGeom>
          <a:noFill/>
        </p:spPr>
        <p:txBody>
          <a:bodyPr wrap="square" lIns="0" tIns="0" rIns="0" bIns="0">
            <a:spAutoFit/>
          </a:bodyPr>
          <a:lstStyle/>
          <a:p>
            <a:pPr>
              <a:spcAft>
                <a:spcPts val="200"/>
              </a:spcAft>
              <a:defRPr sz="950" b="1">
                <a:solidFill>
                  <a:srgbClr val="3498DB"/>
                </a:solidFill>
                <a:latin typeface="Segoe UI"/>
              </a:defRPr>
            </a:pPr>
            <a:r>
              <a:t>PROMPT FRAMEWORKS FOR STUDENTS</a:t>
            </a:r>
          </a:p>
          <a:p>
            <a:pPr>
              <a:spcAft>
                <a:spcPts val="200"/>
              </a:spcAft>
              <a:defRPr sz="2100" b="1">
                <a:solidFill>
                  <a:srgbClr val="2C3E50"/>
                </a:solidFill>
                <a:latin typeface="Segoe UI"/>
              </a:defRPr>
            </a:pPr>
            <a:r>
              <a:t>Framework 4: PREP (Purpose, Request, Example, Output)</a:t>
            </a:r>
          </a:p>
          <a:p>
            <a:pPr>
              <a:defRPr sz="1100">
                <a:solidFill>
                  <a:srgbClr val="7F8C8D"/>
                </a:solidFill>
                <a:latin typeface="Segoe UI"/>
              </a:defRPr>
            </a:pPr>
            <a:r>
              <a:t>Anchors outputs using reference samples to eliminate generic, robotic academic text.</a:t>
            </a:r>
          </a:p>
        </p:txBody>
      </p:sp>
      <p:sp>
        <p:nvSpPr>
          <p:cNvPr id="4" name="Rectangle 3"/>
          <p:cNvSpPr/>
          <p:nvPr/>
        </p:nvSpPr>
        <p:spPr>
          <a:xfrm>
            <a:off x="731520" y="1353312"/>
            <a:ext cx="10728655" cy="36576"/>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F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none" lIns="0" tIns="0" rIns="0" bIns="0">
            <a:spAutoFit/>
          </a:bodyPr>
          <a:lstStyle/>
          <a:p>
            <a:pPr>
              <a:defRPr sz="900">
                <a:solidFill>
                  <a:srgbClr val="7F8C8D"/>
                </a:solidFill>
                <a:latin typeface="Segoe UI"/>
              </a:defRPr>
            </a:pPr>
            <a:r>
              <a:t>AI &amp; Industry 4.0 Workshop  |  Prompt Frameworks &amp; Local Automation  •  Slide 21 of 35</a:t>
            </a:r>
          </a:p>
        </p:txBody>
      </p:sp>
      <p:sp>
        <p:nvSpPr>
          <p:cNvPr id="7" name="Rounded Rectangle 6"/>
          <p:cNvSpPr/>
          <p:nvPr/>
        </p:nvSpPr>
        <p:spPr>
          <a:xfrm>
            <a:off x="731520" y="1508760"/>
            <a:ext cx="10728655" cy="731520"/>
          </a:xfrm>
          <a:prstGeom prst="roundRect">
            <a:avLst/>
          </a:prstGeom>
          <a:solidFill>
            <a:srgbClr val="E8F4FD"/>
          </a:solidFill>
          <a:ln w="1905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54480"/>
            <a:ext cx="10362895" cy="640080"/>
          </a:xfrm>
          <a:prstGeom prst="rect">
            <a:avLst/>
          </a:prstGeom>
          <a:noFill/>
        </p:spPr>
        <p:txBody>
          <a:bodyPr wrap="square">
            <a:spAutoFit/>
          </a:bodyPr>
          <a:lstStyle/>
          <a:p>
            <a:pPr>
              <a:spcAft>
                <a:spcPts val="200"/>
              </a:spcAft>
              <a:defRPr sz="1050" b="1">
                <a:solidFill>
                  <a:srgbClr val="2C3E50"/>
                </a:solidFill>
                <a:latin typeface="Segoe UI"/>
              </a:defRPr>
            </a:pPr>
            <a:r>
              <a:t>💡 Formula: Purpose + Request + Example + Output</a:t>
            </a:r>
          </a:p>
          <a:p>
            <a:pPr>
              <a:defRPr sz="950">
                <a:solidFill>
                  <a:srgbClr val="2C3E50"/>
                </a:solidFill>
                <a:latin typeface="Segoe UI"/>
              </a:defRPr>
            </a:pPr>
            <a:r>
              <a:t>🎯 Student &amp; Campus Use Case: Anchoring AI output with reference samples to eliminate generic, robotic academic text.</a:t>
            </a:r>
          </a:p>
        </p:txBody>
      </p:sp>
      <p:sp>
        <p:nvSpPr>
          <p:cNvPr id="9" name="Rounded Rectangle 8"/>
          <p:cNvSpPr/>
          <p:nvPr/>
        </p:nvSpPr>
        <p:spPr>
          <a:xfrm>
            <a:off x="731520" y="2377440"/>
            <a:ext cx="5212080" cy="3886200"/>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468880"/>
            <a:ext cx="4846320" cy="3703320"/>
          </a:xfrm>
          <a:prstGeom prst="rect">
            <a:avLst/>
          </a:prstGeom>
          <a:noFill/>
        </p:spPr>
        <p:txBody>
          <a:bodyPr wrap="square">
            <a:spAutoFit/>
          </a:bodyPr>
          <a:lstStyle/>
          <a:p>
            <a:pPr>
              <a:spcAft>
                <a:spcPts val="600"/>
              </a:spcAft>
              <a:defRPr sz="1050" b="1">
                <a:solidFill>
                  <a:srgbClr val="38BDF8"/>
                </a:solidFill>
                <a:latin typeface="Segoe UI"/>
              </a:defRPr>
            </a:pPr>
            <a:r>
              <a:t>📥 COMPLETE INPUT PROMPT</a:t>
            </a:r>
          </a:p>
          <a:p>
            <a:pPr>
              <a:defRPr sz="900">
                <a:solidFill>
                  <a:srgbClr val="D4D4D4"/>
                </a:solidFill>
                <a:latin typeface="Consolas"/>
              </a:defRPr>
            </a:pPr>
            <a:r>
              <a:t>[Purpose]: Draft a LinkedIn project showcase post for our semester Capstone IoT project.</a:t>
            </a:r>
            <a:br/>
            <a:r>
              <a:t>[Request]: Write an engaging 150-word post explaining our Raspberry Pi smart dorm electricity monitor.</a:t>
            </a:r>
            <a:br/>
            <a:r>
              <a:t>[Example]:</a:t>
            </a:r>
            <a:br/>
            <a:r>
              <a:t>"🚀 Hardware meets Cloud! This semester, our team built an automated solar tracker that increased panel yield by 28%... [Hook + Metric + GitHub link]"</a:t>
            </a:r>
            <a:br/>
            <a:r>
              <a:t>[Output]:</a:t>
            </a:r>
            <a:br/>
            <a:r>
              <a:t>- Hook sentence focusing on reducing hostel power waste</a:t>
            </a:r>
            <a:br/>
            <a:r>
              <a:t>- 3 key tech stack tags</a:t>
            </a:r>
            <a:br/>
            <a:r>
              <a:t>- Link to GitHub repository with demo GIF placeholder.</a:t>
            </a:r>
          </a:p>
        </p:txBody>
      </p:sp>
      <p:sp>
        <p:nvSpPr>
          <p:cNvPr id="11" name="Rounded Rectangle 10"/>
          <p:cNvSpPr/>
          <p:nvPr/>
        </p:nvSpPr>
        <p:spPr>
          <a:xfrm>
            <a:off x="6217920" y="2377440"/>
            <a:ext cx="5212080" cy="3886200"/>
          </a:xfrm>
          <a:prstGeom prst="roundRect">
            <a:avLst/>
          </a:prstGeom>
          <a:solidFill>
            <a:srgbClr val="F8F9FA"/>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468880"/>
            <a:ext cx="4846320" cy="3703320"/>
          </a:xfrm>
          <a:prstGeom prst="rect">
            <a:avLst/>
          </a:prstGeom>
          <a:noFill/>
        </p:spPr>
        <p:txBody>
          <a:bodyPr wrap="square">
            <a:spAutoFit/>
          </a:bodyPr>
          <a:lstStyle/>
          <a:p>
            <a:pPr>
              <a:spcAft>
                <a:spcPts val="600"/>
              </a:spcAft>
              <a:defRPr sz="1050" b="1">
                <a:solidFill>
                  <a:srgbClr val="27AE60"/>
                </a:solidFill>
                <a:latin typeface="Segoe UI"/>
              </a:defRPr>
            </a:pPr>
            <a:r>
              <a:t>📤 EXACT AI MODEL OUTPUT</a:t>
            </a:r>
          </a:p>
          <a:p>
            <a:pPr>
              <a:defRPr sz="950">
                <a:solidFill>
                  <a:srgbClr val="2C3E50"/>
                </a:solidFill>
                <a:latin typeface="Segoe UI"/>
              </a:defRPr>
            </a:pPr>
            <a:r>
              <a:t>🚀 Eliminating Dorm Power Waste with IoT &amp; Edge Computing!</a:t>
            </a:r>
            <a:br/>
            <a:br/>
            <a:r>
              <a:t>Tired of hostel lights left on all weekend? This semester, our engineering team built "DormWatt"—an automated IoT sensor network using Raspberry Pi and ESP32 that monitors dorm floor power surges and flags phantom draw in real time.</a:t>
            </a:r>
            <a:br/>
            <a:br/>
            <a:r>
              <a:t>Highlights:</a:t>
            </a:r>
            <a:br/>
            <a:r>
              <a:t>• Deployed 12 non-invasive CT current sensors across 3 hostel wings.</a:t>
            </a:r>
            <a:br/>
            <a:r>
              <a:t>• Integrated local MQTT broker with n8n to send Telegram alerts when rooms exceed 1.5 kW.</a:t>
            </a:r>
            <a:br/>
            <a:r>
              <a:t>• Reduced idle power waste by 24% over a 3-week pilot test!</a:t>
            </a:r>
            <a:br/>
            <a:br/>
            <a:r>
              <a:t>Built with: #IoT #RaspberryPi #n8n #CleanTech</a:t>
            </a:r>
            <a:br/>
            <a:br/>
            <a:r>
              <a:t>Check out our schematics, PCB layout, and live demo GIF here:</a:t>
            </a:r>
            <a:br/>
            <a:r>
              <a:t>👉 github.com/campus-innovators/dormwatt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51560"/>
          </a:xfrm>
          <a:prstGeom prst="rect">
            <a:avLst/>
          </a:prstGeom>
          <a:noFill/>
        </p:spPr>
        <p:txBody>
          <a:bodyPr wrap="square" lIns="0" tIns="0" rIns="0" bIns="0">
            <a:spAutoFit/>
          </a:bodyPr>
          <a:lstStyle/>
          <a:p>
            <a:pPr>
              <a:spcAft>
                <a:spcPts val="200"/>
              </a:spcAft>
              <a:defRPr sz="950" b="1">
                <a:solidFill>
                  <a:srgbClr val="3498DB"/>
                </a:solidFill>
                <a:latin typeface="Segoe UI"/>
              </a:defRPr>
            </a:pPr>
            <a:r>
              <a:t>PROMPT FRAMEWORKS FOR STUDENTS</a:t>
            </a:r>
          </a:p>
          <a:p>
            <a:pPr>
              <a:spcAft>
                <a:spcPts val="200"/>
              </a:spcAft>
              <a:defRPr sz="2100" b="1">
                <a:solidFill>
                  <a:srgbClr val="2C3E50"/>
                </a:solidFill>
                <a:latin typeface="Segoe UI"/>
              </a:defRPr>
            </a:pPr>
            <a:r>
              <a:t>Framework 5: ERA (Expectation, Request, Actionable Steps)</a:t>
            </a:r>
          </a:p>
          <a:p>
            <a:pPr>
              <a:defRPr sz="1100">
                <a:solidFill>
                  <a:srgbClr val="7F8C8D"/>
                </a:solidFill>
                <a:latin typeface="Segoe UI"/>
              </a:defRPr>
            </a:pPr>
            <a:r>
              <a:t>Structured analytical, data-driven, and technical debugging tasks for student lab work.</a:t>
            </a:r>
          </a:p>
        </p:txBody>
      </p:sp>
      <p:sp>
        <p:nvSpPr>
          <p:cNvPr id="4" name="Rectangle 3"/>
          <p:cNvSpPr/>
          <p:nvPr/>
        </p:nvSpPr>
        <p:spPr>
          <a:xfrm>
            <a:off x="731520" y="1353312"/>
            <a:ext cx="10728655" cy="36576"/>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F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none" lIns="0" tIns="0" rIns="0" bIns="0">
            <a:spAutoFit/>
          </a:bodyPr>
          <a:lstStyle/>
          <a:p>
            <a:pPr>
              <a:defRPr sz="900">
                <a:solidFill>
                  <a:srgbClr val="7F8C8D"/>
                </a:solidFill>
                <a:latin typeface="Segoe UI"/>
              </a:defRPr>
            </a:pPr>
            <a:r>
              <a:t>AI &amp; Industry 4.0 Workshop  |  Prompt Frameworks &amp; Local Automation  •  Slide 22 of 35</a:t>
            </a:r>
          </a:p>
        </p:txBody>
      </p:sp>
      <p:sp>
        <p:nvSpPr>
          <p:cNvPr id="7" name="Rounded Rectangle 6"/>
          <p:cNvSpPr/>
          <p:nvPr/>
        </p:nvSpPr>
        <p:spPr>
          <a:xfrm>
            <a:off x="731520" y="1508760"/>
            <a:ext cx="10728655" cy="731520"/>
          </a:xfrm>
          <a:prstGeom prst="roundRect">
            <a:avLst/>
          </a:prstGeom>
          <a:solidFill>
            <a:srgbClr val="E8F4FD"/>
          </a:solidFill>
          <a:ln w="1905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54480"/>
            <a:ext cx="10362895" cy="640080"/>
          </a:xfrm>
          <a:prstGeom prst="rect">
            <a:avLst/>
          </a:prstGeom>
          <a:noFill/>
        </p:spPr>
        <p:txBody>
          <a:bodyPr wrap="square">
            <a:spAutoFit/>
          </a:bodyPr>
          <a:lstStyle/>
          <a:p>
            <a:pPr>
              <a:spcAft>
                <a:spcPts val="200"/>
              </a:spcAft>
              <a:defRPr sz="1050" b="1">
                <a:solidFill>
                  <a:srgbClr val="2C3E50"/>
                </a:solidFill>
                <a:latin typeface="Segoe UI"/>
              </a:defRPr>
            </a:pPr>
            <a:r>
              <a:t>💡 Formula: Expectation + Request + Actionable Steps</a:t>
            </a:r>
          </a:p>
          <a:p>
            <a:pPr>
              <a:defRPr sz="950">
                <a:solidFill>
                  <a:srgbClr val="2C3E50"/>
                </a:solidFill>
                <a:latin typeface="Segoe UI"/>
              </a:defRPr>
            </a:pPr>
            <a:r>
              <a:t>🎯 Student &amp; Campus Use Case: Analytical, data-driven, and technical debugging tasks for student lab work.</a:t>
            </a:r>
          </a:p>
        </p:txBody>
      </p:sp>
      <p:sp>
        <p:nvSpPr>
          <p:cNvPr id="9" name="Rounded Rectangle 8"/>
          <p:cNvSpPr/>
          <p:nvPr/>
        </p:nvSpPr>
        <p:spPr>
          <a:xfrm>
            <a:off x="731520" y="2377440"/>
            <a:ext cx="5212080" cy="3886200"/>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468880"/>
            <a:ext cx="4846320" cy="3703320"/>
          </a:xfrm>
          <a:prstGeom prst="rect">
            <a:avLst/>
          </a:prstGeom>
          <a:noFill/>
        </p:spPr>
        <p:txBody>
          <a:bodyPr wrap="square">
            <a:spAutoFit/>
          </a:bodyPr>
          <a:lstStyle/>
          <a:p>
            <a:pPr>
              <a:spcAft>
                <a:spcPts val="600"/>
              </a:spcAft>
              <a:defRPr sz="1050" b="1">
                <a:solidFill>
                  <a:srgbClr val="38BDF8"/>
                </a:solidFill>
                <a:latin typeface="Segoe UI"/>
              </a:defRPr>
            </a:pPr>
            <a:r>
              <a:t>📥 COMPLETE INPUT PROMPT</a:t>
            </a:r>
          </a:p>
          <a:p>
            <a:pPr>
              <a:defRPr sz="900">
                <a:solidFill>
                  <a:srgbClr val="D4D4D4"/>
                </a:solidFill>
                <a:latin typeface="Consolas"/>
              </a:defRPr>
            </a:pPr>
            <a:r>
              <a:t>[Expectation]: A clean, highly performant SQL database query that runs under 50ms without duplicate rows.</a:t>
            </a:r>
            <a:br/>
            <a:r>
              <a:t>[Request]: Retrieve all students from the 'admissions_2026' table who have paid fees but have not yet registered for their semester 1 lab courses.</a:t>
            </a:r>
            <a:br/>
            <a:r>
              <a:t>[Actionable Steps]:</a:t>
            </a:r>
            <a:br/>
            <a:r>
              <a:t>1. Perform an anti-join or LEFT JOIN with 'lab_registrations'.</a:t>
            </a:r>
            <a:br/>
            <a:r>
              <a:t>2. Filter for paid status ('status = PAID').</a:t>
            </a:r>
            <a:br/>
            <a:r>
              <a:t>3. Include student ID, full name, email, and department.</a:t>
            </a:r>
            <a:br/>
            <a:r>
              <a:t>4. Add an index suggestion for optimizing this lookup.</a:t>
            </a:r>
          </a:p>
        </p:txBody>
      </p:sp>
      <p:sp>
        <p:nvSpPr>
          <p:cNvPr id="11" name="Rounded Rectangle 10"/>
          <p:cNvSpPr/>
          <p:nvPr/>
        </p:nvSpPr>
        <p:spPr>
          <a:xfrm>
            <a:off x="6217920" y="2377440"/>
            <a:ext cx="5212080" cy="3886200"/>
          </a:xfrm>
          <a:prstGeom prst="roundRect">
            <a:avLst/>
          </a:prstGeom>
          <a:solidFill>
            <a:srgbClr val="F8F9FA"/>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468880"/>
            <a:ext cx="4846320" cy="3703320"/>
          </a:xfrm>
          <a:prstGeom prst="rect">
            <a:avLst/>
          </a:prstGeom>
          <a:noFill/>
        </p:spPr>
        <p:txBody>
          <a:bodyPr wrap="square">
            <a:spAutoFit/>
          </a:bodyPr>
          <a:lstStyle/>
          <a:p>
            <a:pPr>
              <a:spcAft>
                <a:spcPts val="600"/>
              </a:spcAft>
              <a:defRPr sz="1050" b="1">
                <a:solidFill>
                  <a:srgbClr val="27AE60"/>
                </a:solidFill>
                <a:latin typeface="Segoe UI"/>
              </a:defRPr>
            </a:pPr>
            <a:r>
              <a:t>📤 EXACT AI MODEL OUTPUT</a:t>
            </a:r>
          </a:p>
          <a:p>
            <a:pPr>
              <a:defRPr sz="950">
                <a:solidFill>
                  <a:srgbClr val="2C3E50"/>
                </a:solidFill>
                <a:latin typeface="Segoe UI"/>
              </a:defRPr>
            </a:pPr>
            <a:r>
              <a:t>```sql</a:t>
            </a:r>
            <a:br/>
            <a:r>
              <a:t>-- Query: Find enrolled students missing lab registration</a:t>
            </a:r>
            <a:br/>
            <a:r>
              <a:t>SELECT </a:t>
            </a:r>
            <a:br/>
            <a:r>
              <a:t>    a.student_id,</a:t>
            </a:r>
            <a:br/>
            <a:r>
              <a:t>    a.full_name,</a:t>
            </a:r>
            <a:br/>
            <a:r>
              <a:t>    a.email,</a:t>
            </a:r>
            <a:br/>
            <a:r>
              <a:t>    a.department</a:t>
            </a:r>
            <a:br/>
            <a:r>
              <a:t>FROM admissions_2026 a</a:t>
            </a:r>
            <a:br/>
            <a:r>
              <a:t>LEFT JOIN lab_registrations lr </a:t>
            </a:r>
            <a:br/>
            <a:r>
              <a:t>    ON a.student_id = lr.student_id</a:t>
            </a:r>
            <a:br/>
            <a:r>
              <a:t>WHERE a.fee_status = 'PAID'</a:t>
            </a:r>
            <a:br/>
            <a:r>
              <a:t>  AND lr.student_id IS NULL;</a:t>
            </a:r>
            <a:br/>
            <a:r>
              <a:t>```</a:t>
            </a:r>
            <a:br/>
            <a:br/>
            <a:r>
              <a:t>Optimization Step:</a:t>
            </a:r>
            <a:br/>
            <a:r>
              <a:t>To keep this query under 50ms on large cohorts, create a composite index:</a:t>
            </a:r>
            <a:br/>
            <a:r>
              <a:t>`CREATE INDEX idx_student_labs ON admissions_2026(fee_status, student_id);`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51560"/>
          </a:xfrm>
          <a:prstGeom prst="rect">
            <a:avLst/>
          </a:prstGeom>
          <a:noFill/>
        </p:spPr>
        <p:txBody>
          <a:bodyPr wrap="square" lIns="0" tIns="0" rIns="0" bIns="0">
            <a:spAutoFit/>
          </a:bodyPr>
          <a:lstStyle/>
          <a:p>
            <a:pPr>
              <a:spcAft>
                <a:spcPts val="200"/>
              </a:spcAft>
              <a:defRPr sz="950" b="1">
                <a:solidFill>
                  <a:srgbClr val="3498DB"/>
                </a:solidFill>
                <a:latin typeface="Segoe UI"/>
              </a:defRPr>
            </a:pPr>
            <a:r>
              <a:t>PROMPT FRAMEWORKS FOR STUDENTS</a:t>
            </a:r>
          </a:p>
          <a:p>
            <a:pPr>
              <a:spcAft>
                <a:spcPts val="200"/>
              </a:spcAft>
              <a:defRPr sz="2100" b="1">
                <a:solidFill>
                  <a:srgbClr val="2C3E50"/>
                </a:solidFill>
                <a:latin typeface="Segoe UI"/>
              </a:defRPr>
            </a:pPr>
            <a:r>
              <a:t>Framework 6: CLEAR (Context, Language, Examples, Audience, Response)</a:t>
            </a:r>
          </a:p>
          <a:p>
            <a:pPr>
              <a:defRPr sz="1100">
                <a:solidFill>
                  <a:srgbClr val="7F8C8D"/>
                </a:solidFill>
                <a:latin typeface="Segoe UI"/>
              </a:defRPr>
            </a:pPr>
            <a:r>
              <a:t>Generates highly targeted copy tailored to specific student cohorts and demographics.</a:t>
            </a:r>
          </a:p>
        </p:txBody>
      </p:sp>
      <p:sp>
        <p:nvSpPr>
          <p:cNvPr id="4" name="Rectangle 3"/>
          <p:cNvSpPr/>
          <p:nvPr/>
        </p:nvSpPr>
        <p:spPr>
          <a:xfrm>
            <a:off x="731520" y="1353312"/>
            <a:ext cx="10728655" cy="36576"/>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F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none" lIns="0" tIns="0" rIns="0" bIns="0">
            <a:spAutoFit/>
          </a:bodyPr>
          <a:lstStyle/>
          <a:p>
            <a:pPr>
              <a:defRPr sz="900">
                <a:solidFill>
                  <a:srgbClr val="7F8C8D"/>
                </a:solidFill>
                <a:latin typeface="Segoe UI"/>
              </a:defRPr>
            </a:pPr>
            <a:r>
              <a:t>AI &amp; Industry 4.0 Workshop  |  Prompt Frameworks &amp; Local Automation  •  Slide 23 of 35</a:t>
            </a:r>
          </a:p>
        </p:txBody>
      </p:sp>
      <p:sp>
        <p:nvSpPr>
          <p:cNvPr id="7" name="Rounded Rectangle 6"/>
          <p:cNvSpPr/>
          <p:nvPr/>
        </p:nvSpPr>
        <p:spPr>
          <a:xfrm>
            <a:off x="731520" y="1508760"/>
            <a:ext cx="10728655" cy="731520"/>
          </a:xfrm>
          <a:prstGeom prst="roundRect">
            <a:avLst/>
          </a:prstGeom>
          <a:solidFill>
            <a:srgbClr val="E8F4FD"/>
          </a:solidFill>
          <a:ln w="1905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54480"/>
            <a:ext cx="10362895" cy="640080"/>
          </a:xfrm>
          <a:prstGeom prst="rect">
            <a:avLst/>
          </a:prstGeom>
          <a:noFill/>
        </p:spPr>
        <p:txBody>
          <a:bodyPr wrap="square">
            <a:spAutoFit/>
          </a:bodyPr>
          <a:lstStyle/>
          <a:p>
            <a:pPr>
              <a:spcAft>
                <a:spcPts val="200"/>
              </a:spcAft>
              <a:defRPr sz="1050" b="1">
                <a:solidFill>
                  <a:srgbClr val="2C3E50"/>
                </a:solidFill>
                <a:latin typeface="Segoe UI"/>
              </a:defRPr>
            </a:pPr>
            <a:r>
              <a:t>💡 Formula: Context + Language + Examples + Audience + Response</a:t>
            </a:r>
          </a:p>
          <a:p>
            <a:pPr>
              <a:defRPr sz="950">
                <a:solidFill>
                  <a:srgbClr val="2C3E50"/>
                </a:solidFill>
                <a:latin typeface="Segoe UI"/>
              </a:defRPr>
            </a:pPr>
            <a:r>
              <a:t>🎯 Student &amp; Campus Use Case: Generating highly targeted copy tailored to specific student demographics and cohorts.</a:t>
            </a:r>
          </a:p>
        </p:txBody>
      </p:sp>
      <p:sp>
        <p:nvSpPr>
          <p:cNvPr id="9" name="Rounded Rectangle 8"/>
          <p:cNvSpPr/>
          <p:nvPr/>
        </p:nvSpPr>
        <p:spPr>
          <a:xfrm>
            <a:off x="731520" y="2377440"/>
            <a:ext cx="5212080" cy="3886200"/>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468880"/>
            <a:ext cx="4846320" cy="3703320"/>
          </a:xfrm>
          <a:prstGeom prst="rect">
            <a:avLst/>
          </a:prstGeom>
          <a:noFill/>
        </p:spPr>
        <p:txBody>
          <a:bodyPr wrap="square">
            <a:spAutoFit/>
          </a:bodyPr>
          <a:lstStyle/>
          <a:p>
            <a:pPr>
              <a:spcAft>
                <a:spcPts val="600"/>
              </a:spcAft>
              <a:defRPr sz="1050" b="1">
                <a:solidFill>
                  <a:srgbClr val="38BDF8"/>
                </a:solidFill>
                <a:latin typeface="Segoe UI"/>
              </a:defRPr>
            </a:pPr>
            <a:r>
              <a:t>📥 COMPLETE INPUT PROMPT</a:t>
            </a:r>
          </a:p>
          <a:p>
            <a:pPr>
              <a:defRPr sz="900">
                <a:solidFill>
                  <a:srgbClr val="D4D4D4"/>
                </a:solidFill>
                <a:latin typeface="Consolas"/>
              </a:defRPr>
            </a:pPr>
            <a:r>
              <a:t>[Context]: Introducing an online peer-tutoring exchange at Sukumar Sengupta Mahavidyalaya.</a:t>
            </a:r>
            <a:br/>
            <a:r>
              <a:t>[Language]: Casual, relatable, warm, student-friendly English with subtle campus vernacular.</a:t>
            </a:r>
            <a:br/>
            <a:r>
              <a:t>[Examples]: "Stuck on Calculus integrals at 2 AM? Trade an hour of Java coding help for Math tutoring."</a:t>
            </a:r>
            <a:br/>
            <a:r>
              <a:t>[Audience]: 1st-year undergraduate students feeling overwhelmed by introductory semester courses.</a:t>
            </a:r>
            <a:br/>
            <a:r>
              <a:t>[Response]: 4-sentence WhatsApp announcement card with clear call-to-action.</a:t>
            </a:r>
          </a:p>
        </p:txBody>
      </p:sp>
      <p:sp>
        <p:nvSpPr>
          <p:cNvPr id="11" name="Rounded Rectangle 10"/>
          <p:cNvSpPr/>
          <p:nvPr/>
        </p:nvSpPr>
        <p:spPr>
          <a:xfrm>
            <a:off x="6217920" y="2377440"/>
            <a:ext cx="5212080" cy="3886200"/>
          </a:xfrm>
          <a:prstGeom prst="roundRect">
            <a:avLst/>
          </a:prstGeom>
          <a:solidFill>
            <a:srgbClr val="F8F9FA"/>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468880"/>
            <a:ext cx="4846320" cy="3703320"/>
          </a:xfrm>
          <a:prstGeom prst="rect">
            <a:avLst/>
          </a:prstGeom>
          <a:noFill/>
        </p:spPr>
        <p:txBody>
          <a:bodyPr wrap="square">
            <a:spAutoFit/>
          </a:bodyPr>
          <a:lstStyle/>
          <a:p>
            <a:pPr>
              <a:spcAft>
                <a:spcPts val="600"/>
              </a:spcAft>
              <a:defRPr sz="1050" b="1">
                <a:solidFill>
                  <a:srgbClr val="27AE60"/>
                </a:solidFill>
                <a:latin typeface="Segoe UI"/>
              </a:defRPr>
            </a:pPr>
            <a:r>
              <a:t>📤 EXACT AI MODEL OUTPUT</a:t>
            </a:r>
          </a:p>
          <a:p>
            <a:pPr>
              <a:defRPr sz="950">
                <a:solidFill>
                  <a:srgbClr val="2C3E50"/>
                </a:solidFill>
                <a:latin typeface="Segoe UI"/>
              </a:defRPr>
            </a:pPr>
            <a:r>
              <a:t>📚 Feeling lost in Calculus proofs or Digital Electronics? You are not alone!</a:t>
            </a:r>
            <a:br/>
            <a:br/>
            <a:r>
              <a:t>Introducing the SSM Peer Exchange: trade 1 hour of help in subjects you are good at (like C programming or English) for 1 hour of tutoring in subjects giving you headaches.</a:t>
            </a:r>
            <a:br/>
            <a:br/>
            <a:r>
              <a:t>No paid fees, no awkward tutoring centers—just seniors and batchmates helping each other ace midterms.</a:t>
            </a:r>
            <a:br/>
            <a:br/>
            <a:r>
              <a:t>👉 Grab your peer study buddy here: bit.ly/ssm-peer-study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51560"/>
          </a:xfrm>
          <a:prstGeom prst="rect">
            <a:avLst/>
          </a:prstGeom>
          <a:noFill/>
        </p:spPr>
        <p:txBody>
          <a:bodyPr wrap="square" lIns="0" tIns="0" rIns="0" bIns="0">
            <a:spAutoFit/>
          </a:bodyPr>
          <a:lstStyle/>
          <a:p>
            <a:pPr>
              <a:spcAft>
                <a:spcPts val="200"/>
              </a:spcAft>
              <a:defRPr sz="950" b="1">
                <a:solidFill>
                  <a:srgbClr val="3498DB"/>
                </a:solidFill>
                <a:latin typeface="Segoe UI"/>
              </a:defRPr>
            </a:pPr>
            <a:r>
              <a:t>PROMPT FRAMEWORKS FOR STUDENTS</a:t>
            </a:r>
          </a:p>
          <a:p>
            <a:pPr>
              <a:spcAft>
                <a:spcPts val="200"/>
              </a:spcAft>
              <a:defRPr sz="2100" b="1">
                <a:solidFill>
                  <a:srgbClr val="2C3E50"/>
                </a:solidFill>
                <a:latin typeface="Segoe UI"/>
              </a:defRPr>
            </a:pPr>
            <a:r>
              <a:t>Framework 7: CARE (Context, Action, Result, Example)</a:t>
            </a:r>
          </a:p>
          <a:p>
            <a:pPr>
              <a:defRPr sz="1100">
                <a:solidFill>
                  <a:srgbClr val="7F8C8D"/>
                </a:solidFill>
                <a:latin typeface="Segoe UI"/>
              </a:defRPr>
            </a:pPr>
            <a:r>
              <a:t>Showcases structured project case studies, hackathon pitch deep-dives, and portfolio resumes.</a:t>
            </a:r>
          </a:p>
        </p:txBody>
      </p:sp>
      <p:sp>
        <p:nvSpPr>
          <p:cNvPr id="4" name="Rectangle 3"/>
          <p:cNvSpPr/>
          <p:nvPr/>
        </p:nvSpPr>
        <p:spPr>
          <a:xfrm>
            <a:off x="731520" y="1353312"/>
            <a:ext cx="10728655" cy="36576"/>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F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none" lIns="0" tIns="0" rIns="0" bIns="0">
            <a:spAutoFit/>
          </a:bodyPr>
          <a:lstStyle/>
          <a:p>
            <a:pPr>
              <a:defRPr sz="900">
                <a:solidFill>
                  <a:srgbClr val="7F8C8D"/>
                </a:solidFill>
                <a:latin typeface="Segoe UI"/>
              </a:defRPr>
            </a:pPr>
            <a:r>
              <a:t>AI &amp; Industry 4.0 Workshop  |  Prompt Frameworks &amp; Local Automation  •  Slide 24 of 35</a:t>
            </a:r>
          </a:p>
        </p:txBody>
      </p:sp>
      <p:sp>
        <p:nvSpPr>
          <p:cNvPr id="7" name="Rounded Rectangle 6"/>
          <p:cNvSpPr/>
          <p:nvPr/>
        </p:nvSpPr>
        <p:spPr>
          <a:xfrm>
            <a:off x="731520" y="1508760"/>
            <a:ext cx="10728655" cy="731520"/>
          </a:xfrm>
          <a:prstGeom prst="roundRect">
            <a:avLst/>
          </a:prstGeom>
          <a:solidFill>
            <a:srgbClr val="E8F4FD"/>
          </a:solidFill>
          <a:ln w="1905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54480"/>
            <a:ext cx="10362895" cy="640080"/>
          </a:xfrm>
          <a:prstGeom prst="rect">
            <a:avLst/>
          </a:prstGeom>
          <a:noFill/>
        </p:spPr>
        <p:txBody>
          <a:bodyPr wrap="square">
            <a:spAutoFit/>
          </a:bodyPr>
          <a:lstStyle/>
          <a:p>
            <a:pPr>
              <a:spcAft>
                <a:spcPts val="200"/>
              </a:spcAft>
              <a:defRPr sz="1050" b="1">
                <a:solidFill>
                  <a:srgbClr val="2C3E50"/>
                </a:solidFill>
                <a:latin typeface="Segoe UI"/>
              </a:defRPr>
            </a:pPr>
            <a:r>
              <a:t>💡 Formula: Context + Action + Result + Example</a:t>
            </a:r>
          </a:p>
          <a:p>
            <a:pPr>
              <a:defRPr sz="950">
                <a:solidFill>
                  <a:srgbClr val="2C3E50"/>
                </a:solidFill>
                <a:latin typeface="Segoe UI"/>
              </a:defRPr>
            </a:pPr>
            <a:r>
              <a:t>🎯 Student &amp; Campus Use Case: Structured project case studies, hackathon pitch decks, and portfolio resumes.</a:t>
            </a:r>
          </a:p>
        </p:txBody>
      </p:sp>
      <p:sp>
        <p:nvSpPr>
          <p:cNvPr id="9" name="Rounded Rectangle 8"/>
          <p:cNvSpPr/>
          <p:nvPr/>
        </p:nvSpPr>
        <p:spPr>
          <a:xfrm>
            <a:off x="731520" y="2377440"/>
            <a:ext cx="5212080" cy="3886200"/>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468880"/>
            <a:ext cx="4846320" cy="3703320"/>
          </a:xfrm>
          <a:prstGeom prst="rect">
            <a:avLst/>
          </a:prstGeom>
          <a:noFill/>
        </p:spPr>
        <p:txBody>
          <a:bodyPr wrap="square">
            <a:spAutoFit/>
          </a:bodyPr>
          <a:lstStyle/>
          <a:p>
            <a:pPr>
              <a:spcAft>
                <a:spcPts val="600"/>
              </a:spcAft>
              <a:defRPr sz="1050" b="1">
                <a:solidFill>
                  <a:srgbClr val="38BDF8"/>
                </a:solidFill>
                <a:latin typeface="Segoe UI"/>
              </a:defRPr>
            </a:pPr>
            <a:r>
              <a:t>📥 COMPLETE INPUT PROMPT</a:t>
            </a:r>
          </a:p>
          <a:p>
            <a:pPr>
              <a:defRPr sz="900">
                <a:solidFill>
                  <a:srgbClr val="D4D4D4"/>
                </a:solidFill>
                <a:latin typeface="Consolas"/>
              </a:defRPr>
            </a:pPr>
            <a:r>
              <a:t>[Context]: Our team participated in the Smart Bengal Hackathon competing against 60 college teams.</a:t>
            </a:r>
            <a:br/>
            <a:r>
              <a:t>[Action]: We designed and deployed a self-hosted college notice radar using n8n and local Ollama that scraped SSM portals.</a:t>
            </a:r>
            <a:br/>
            <a:r>
              <a:t>[Result]: Processed 140+ official circulars with 100% accuracy, cutting student missed deadline inquiries by 85%.</a:t>
            </a:r>
            <a:br/>
            <a:r>
              <a:t>[Example]: Provide a structured 4-part STAR/CARE portfolio write-up suitable for a Junior Software Engineer resume.</a:t>
            </a:r>
          </a:p>
        </p:txBody>
      </p:sp>
      <p:sp>
        <p:nvSpPr>
          <p:cNvPr id="11" name="Rounded Rectangle 10"/>
          <p:cNvSpPr/>
          <p:nvPr/>
        </p:nvSpPr>
        <p:spPr>
          <a:xfrm>
            <a:off x="6217920" y="2377440"/>
            <a:ext cx="5212080" cy="3886200"/>
          </a:xfrm>
          <a:prstGeom prst="roundRect">
            <a:avLst/>
          </a:prstGeom>
          <a:solidFill>
            <a:srgbClr val="F8F9FA"/>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468880"/>
            <a:ext cx="4846320" cy="3703320"/>
          </a:xfrm>
          <a:prstGeom prst="rect">
            <a:avLst/>
          </a:prstGeom>
          <a:noFill/>
        </p:spPr>
        <p:txBody>
          <a:bodyPr wrap="square">
            <a:spAutoFit/>
          </a:bodyPr>
          <a:lstStyle/>
          <a:p>
            <a:pPr>
              <a:spcAft>
                <a:spcPts val="600"/>
              </a:spcAft>
              <a:defRPr sz="1050" b="1">
                <a:solidFill>
                  <a:srgbClr val="27AE60"/>
                </a:solidFill>
                <a:latin typeface="Segoe UI"/>
              </a:defRPr>
            </a:pPr>
            <a:r>
              <a:t>📤 EXACT AI MODEL OUTPUT</a:t>
            </a:r>
          </a:p>
          <a:p>
            <a:pPr>
              <a:defRPr sz="950">
                <a:solidFill>
                  <a:srgbClr val="2C3E50"/>
                </a:solidFill>
                <a:latin typeface="Segoe UI"/>
              </a:defRPr>
            </a:pPr>
            <a:r>
              <a:t>PROJECT CASE STUDY: AUTOMATED CAMPUS NOTICE RADAR</a:t>
            </a:r>
            <a:br/>
            <a:br/>
            <a:r>
              <a:t>• Context: Students routinely missed critical semester form fill-up dates and scholarship renewals due to fragmented website updates across college portals.</a:t>
            </a:r>
            <a:br/>
            <a:r>
              <a:t>• Action: Architected a decentralized automation pipeline combining an n8n webhook engine with local Ollama LLMs (qwen2.5:3b) to scrape, parse, and categorize raw HTML notices every 2 hours without cloud API costs.</a:t>
            </a:r>
            <a:br/>
            <a:r>
              <a:t>• Result: Delivered real-time Telegram and calendar alerts for 140+ circulars to 800+ students with 0 server expense and 85% drop in missed deadline inquiries.</a:t>
            </a:r>
            <a:br/>
            <a:r>
              <a:t>• Exemplar Feature: Implemented resilient error-handling that falls back to cached RSS feeds during college server downtime.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51560"/>
          </a:xfrm>
          <a:prstGeom prst="rect">
            <a:avLst/>
          </a:prstGeom>
          <a:noFill/>
        </p:spPr>
        <p:txBody>
          <a:bodyPr wrap="square" lIns="0" tIns="0" rIns="0" bIns="0">
            <a:spAutoFit/>
          </a:bodyPr>
          <a:lstStyle/>
          <a:p>
            <a:pPr>
              <a:spcAft>
                <a:spcPts val="200"/>
              </a:spcAft>
              <a:defRPr sz="950" b="1">
                <a:solidFill>
                  <a:srgbClr val="3498DB"/>
                </a:solidFill>
                <a:latin typeface="Segoe UI"/>
              </a:defRPr>
            </a:pPr>
            <a:r>
              <a:t>PROMPT FRAMEWORKS FOR STUDENTS</a:t>
            </a:r>
          </a:p>
          <a:p>
            <a:pPr>
              <a:spcAft>
                <a:spcPts val="200"/>
              </a:spcAft>
              <a:defRPr sz="2100" b="1">
                <a:solidFill>
                  <a:srgbClr val="2C3E50"/>
                </a:solidFill>
                <a:latin typeface="Segoe UI"/>
              </a:defRPr>
            </a:pPr>
            <a:r>
              <a:t>Framework 8: CREATE (Context, Role, Task, Audience, Tone, Examples)</a:t>
            </a:r>
          </a:p>
          <a:p>
            <a:pPr>
              <a:defRPr sz="1100">
                <a:solidFill>
                  <a:srgbClr val="7F8C8D"/>
                </a:solidFill>
                <a:latin typeface="Segoe UI"/>
              </a:defRPr>
            </a:pPr>
            <a:r>
              <a:t>Builds comprehensive, curriculum-aligned lesson plans, lab sheets, and workshop schedules.</a:t>
            </a:r>
          </a:p>
        </p:txBody>
      </p:sp>
      <p:sp>
        <p:nvSpPr>
          <p:cNvPr id="4" name="Rectangle 3"/>
          <p:cNvSpPr/>
          <p:nvPr/>
        </p:nvSpPr>
        <p:spPr>
          <a:xfrm>
            <a:off x="731520" y="1353312"/>
            <a:ext cx="10728655" cy="36576"/>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F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none" lIns="0" tIns="0" rIns="0" bIns="0">
            <a:spAutoFit/>
          </a:bodyPr>
          <a:lstStyle/>
          <a:p>
            <a:pPr>
              <a:defRPr sz="900">
                <a:solidFill>
                  <a:srgbClr val="7F8C8D"/>
                </a:solidFill>
                <a:latin typeface="Segoe UI"/>
              </a:defRPr>
            </a:pPr>
            <a:r>
              <a:t>AI &amp; Industry 4.0 Workshop  |  Prompt Frameworks &amp; Local Automation  •  Slide 25 of 35</a:t>
            </a:r>
          </a:p>
        </p:txBody>
      </p:sp>
      <p:sp>
        <p:nvSpPr>
          <p:cNvPr id="7" name="Rounded Rectangle 6"/>
          <p:cNvSpPr/>
          <p:nvPr/>
        </p:nvSpPr>
        <p:spPr>
          <a:xfrm>
            <a:off x="731520" y="1508760"/>
            <a:ext cx="10728655" cy="731520"/>
          </a:xfrm>
          <a:prstGeom prst="roundRect">
            <a:avLst/>
          </a:prstGeom>
          <a:solidFill>
            <a:srgbClr val="E8F4FD"/>
          </a:solidFill>
          <a:ln w="1905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54480"/>
            <a:ext cx="10362895" cy="640080"/>
          </a:xfrm>
          <a:prstGeom prst="rect">
            <a:avLst/>
          </a:prstGeom>
          <a:noFill/>
        </p:spPr>
        <p:txBody>
          <a:bodyPr wrap="square">
            <a:spAutoFit/>
          </a:bodyPr>
          <a:lstStyle/>
          <a:p>
            <a:pPr>
              <a:spcAft>
                <a:spcPts val="200"/>
              </a:spcAft>
              <a:defRPr sz="1050" b="1">
                <a:solidFill>
                  <a:srgbClr val="2C3E50"/>
                </a:solidFill>
                <a:latin typeface="Segoe UI"/>
              </a:defRPr>
            </a:pPr>
            <a:r>
              <a:t>💡 Formula: Context + Role + Explicit Task + Audience + Tone + Examples</a:t>
            </a:r>
          </a:p>
          <a:p>
            <a:pPr>
              <a:defRPr sz="950">
                <a:solidFill>
                  <a:srgbClr val="2C3E50"/>
                </a:solidFill>
                <a:latin typeface="Segoe UI"/>
              </a:defRPr>
            </a:pPr>
            <a:r>
              <a:t>🎯 Student &amp; Campus Use Case: Building comprehensive, curriculum-aligned lesson plans, lab sheets, and workshop schedules.</a:t>
            </a:r>
          </a:p>
        </p:txBody>
      </p:sp>
      <p:sp>
        <p:nvSpPr>
          <p:cNvPr id="9" name="Rounded Rectangle 8"/>
          <p:cNvSpPr/>
          <p:nvPr/>
        </p:nvSpPr>
        <p:spPr>
          <a:xfrm>
            <a:off x="731520" y="2377440"/>
            <a:ext cx="5212080" cy="3886200"/>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468880"/>
            <a:ext cx="4846320" cy="3703320"/>
          </a:xfrm>
          <a:prstGeom prst="rect">
            <a:avLst/>
          </a:prstGeom>
          <a:noFill/>
        </p:spPr>
        <p:txBody>
          <a:bodyPr wrap="square">
            <a:spAutoFit/>
          </a:bodyPr>
          <a:lstStyle/>
          <a:p>
            <a:pPr>
              <a:spcAft>
                <a:spcPts val="600"/>
              </a:spcAft>
              <a:defRPr sz="1050" b="1">
                <a:solidFill>
                  <a:srgbClr val="38BDF8"/>
                </a:solidFill>
                <a:latin typeface="Segoe UI"/>
              </a:defRPr>
            </a:pPr>
            <a:r>
              <a:t>📥 COMPLETE INPUT PROMPT</a:t>
            </a:r>
          </a:p>
          <a:p>
            <a:pPr>
              <a:defRPr sz="900">
                <a:solidFill>
                  <a:srgbClr val="D4D4D4"/>
                </a:solidFill>
                <a:latin typeface="Consolas"/>
              </a:defRPr>
            </a:pPr>
            <a:r>
              <a:t>[Context]: 3-hour hands-on college makerspace workshop on Arduino and IoT sensors.</a:t>
            </a:r>
            <a:br/>
            <a:r>
              <a:t>[Role]: Lead Electronics Instructor &amp; Student Lab Assistant.</a:t>
            </a:r>
            <a:br/>
            <a:r>
              <a:t>[Explicit Task]: Create a modular 3-part lab guide walking beginners through connecting a DHT11 temperature sensor and displaying readings on an LCD display.</a:t>
            </a:r>
            <a:br/>
            <a:r>
              <a:t>[Audience]: 1st-year B.Sc. Computer Science / Physics students with zero electronics background.</a:t>
            </a:r>
            <a:br/>
            <a:r>
              <a:t>[Tone]: Encouraging, highly methodical, safety-conscious.</a:t>
            </a:r>
            <a:br/>
            <a:r>
              <a:t>[Examples]: Include pin wiring table format: [Sensor Pin -&gt; Board Pin].</a:t>
            </a:r>
          </a:p>
        </p:txBody>
      </p:sp>
      <p:sp>
        <p:nvSpPr>
          <p:cNvPr id="11" name="Rounded Rectangle 10"/>
          <p:cNvSpPr/>
          <p:nvPr/>
        </p:nvSpPr>
        <p:spPr>
          <a:xfrm>
            <a:off x="6217920" y="2377440"/>
            <a:ext cx="5212080" cy="3886200"/>
          </a:xfrm>
          <a:prstGeom prst="roundRect">
            <a:avLst/>
          </a:prstGeom>
          <a:solidFill>
            <a:srgbClr val="F8F9FA"/>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468880"/>
            <a:ext cx="4846320" cy="3703320"/>
          </a:xfrm>
          <a:prstGeom prst="rect">
            <a:avLst/>
          </a:prstGeom>
          <a:noFill/>
        </p:spPr>
        <p:txBody>
          <a:bodyPr wrap="square">
            <a:spAutoFit/>
          </a:bodyPr>
          <a:lstStyle/>
          <a:p>
            <a:pPr>
              <a:spcAft>
                <a:spcPts val="600"/>
              </a:spcAft>
              <a:defRPr sz="1050" b="1">
                <a:solidFill>
                  <a:srgbClr val="27AE60"/>
                </a:solidFill>
                <a:latin typeface="Segoe UI"/>
              </a:defRPr>
            </a:pPr>
            <a:r>
              <a:t>📤 EXACT AI MODEL OUTPUT</a:t>
            </a:r>
          </a:p>
          <a:p>
            <a:pPr>
              <a:defRPr sz="950">
                <a:solidFill>
                  <a:srgbClr val="2C3E50"/>
                </a:solidFill>
                <a:latin typeface="Segoe UI"/>
              </a:defRPr>
            </a:pPr>
            <a:r>
              <a:t>LAB SHEET: INTRODUCTION TO IOT &amp; SENSORS (180 MINS)</a:t>
            </a:r>
            <a:br/>
            <a:br/>
            <a:r>
              <a:t>Welcome to the Makerspace! Today we build our first smart environmental monitor.</a:t>
            </a:r>
            <a:br/>
            <a:br/>
            <a:r>
              <a:t>Wiring Guide (Safety First: Unplug USB before wiring!):</a:t>
            </a:r>
            <a:br/>
            <a:r>
              <a:t>• DHT11 VCC ➔ Arduino 5V</a:t>
            </a:r>
            <a:br/>
            <a:r>
              <a:t>• DHT11 Data ➔ Arduino Digital Pin 2</a:t>
            </a:r>
            <a:br/>
            <a:r>
              <a:t>• DHT11 GND ➔ Arduino GND</a:t>
            </a:r>
            <a:br/>
            <a:br/>
            <a:r>
              <a:t>Lab Schedule Breakdown:</a:t>
            </a:r>
            <a:br/>
            <a:r>
              <a:t>1. Part 1 (0-45 mins): Breadboard fundamentals &amp; reading digital sensor data via Serial Monitor.</a:t>
            </a:r>
            <a:br/>
            <a:r>
              <a:t>2. Part 2 (45-100 mins): Connecting I2C 16x2 LCD screen to display temperature in Celsius.</a:t>
            </a:r>
            <a:br/>
            <a:r>
              <a:t>3. Part 3 (100-180 mins): Challenge Sprint! Set buzzer alarm if temp exceeds 32°C.</a:t>
            </a:r>
            <a:br/>
            <a:br/>
            <a:r>
              <a:t>Stuck? Flag a lab mentor or ask your bench neighbor!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51560"/>
          </a:xfrm>
          <a:prstGeom prst="rect">
            <a:avLst/>
          </a:prstGeom>
          <a:noFill/>
        </p:spPr>
        <p:txBody>
          <a:bodyPr wrap="square" lIns="0" tIns="0" rIns="0" bIns="0">
            <a:spAutoFit/>
          </a:bodyPr>
          <a:lstStyle/>
          <a:p>
            <a:pPr>
              <a:spcAft>
                <a:spcPts val="200"/>
              </a:spcAft>
              <a:defRPr sz="950" b="1">
                <a:solidFill>
                  <a:srgbClr val="3498DB"/>
                </a:solidFill>
                <a:latin typeface="Segoe UI"/>
              </a:defRPr>
            </a:pPr>
            <a:r>
              <a:t>PROMPT FRAMEWORKS FOR STUDENTS</a:t>
            </a:r>
          </a:p>
          <a:p>
            <a:pPr>
              <a:spcAft>
                <a:spcPts val="200"/>
              </a:spcAft>
              <a:defRPr sz="2100" b="1">
                <a:solidFill>
                  <a:srgbClr val="2C3E50"/>
                </a:solidFill>
                <a:latin typeface="Segoe UI"/>
              </a:defRPr>
            </a:pPr>
            <a:r>
              <a:t>Framework 9: The Five 'S' Model (Self-Tutoring)</a:t>
            </a:r>
          </a:p>
          <a:p>
            <a:pPr>
              <a:defRPr sz="1100">
                <a:solidFill>
                  <a:srgbClr val="7F8C8D"/>
                </a:solidFill>
                <a:latin typeface="Segoe UI"/>
              </a:defRPr>
            </a:pPr>
            <a:r>
              <a:t>Enables safe student self-tutoring and Socratic guidance without revealing direct answers.</a:t>
            </a:r>
          </a:p>
        </p:txBody>
      </p:sp>
      <p:sp>
        <p:nvSpPr>
          <p:cNvPr id="4" name="Rectangle 3"/>
          <p:cNvSpPr/>
          <p:nvPr/>
        </p:nvSpPr>
        <p:spPr>
          <a:xfrm>
            <a:off x="731520" y="1353312"/>
            <a:ext cx="10728655" cy="36576"/>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F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none" lIns="0" tIns="0" rIns="0" bIns="0">
            <a:spAutoFit/>
          </a:bodyPr>
          <a:lstStyle/>
          <a:p>
            <a:pPr>
              <a:defRPr sz="900">
                <a:solidFill>
                  <a:srgbClr val="7F8C8D"/>
                </a:solidFill>
                <a:latin typeface="Segoe UI"/>
              </a:defRPr>
            </a:pPr>
            <a:r>
              <a:t>AI &amp; Industry 4.0 Workshop  |  Prompt Frameworks &amp; Local Automation  •  Slide 26 of 35</a:t>
            </a:r>
          </a:p>
        </p:txBody>
      </p:sp>
      <p:sp>
        <p:nvSpPr>
          <p:cNvPr id="7" name="Rounded Rectangle 6"/>
          <p:cNvSpPr/>
          <p:nvPr/>
        </p:nvSpPr>
        <p:spPr>
          <a:xfrm>
            <a:off x="731520" y="1508760"/>
            <a:ext cx="10728655" cy="731520"/>
          </a:xfrm>
          <a:prstGeom prst="roundRect">
            <a:avLst/>
          </a:prstGeom>
          <a:solidFill>
            <a:srgbClr val="E8F4FD"/>
          </a:solidFill>
          <a:ln w="1905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54480"/>
            <a:ext cx="10362895" cy="640080"/>
          </a:xfrm>
          <a:prstGeom prst="rect">
            <a:avLst/>
          </a:prstGeom>
          <a:noFill/>
        </p:spPr>
        <p:txBody>
          <a:bodyPr wrap="square">
            <a:spAutoFit/>
          </a:bodyPr>
          <a:lstStyle/>
          <a:p>
            <a:pPr>
              <a:spcAft>
                <a:spcPts val="200"/>
              </a:spcAft>
              <a:defRPr sz="1050" b="1">
                <a:solidFill>
                  <a:srgbClr val="2C3E50"/>
                </a:solidFill>
                <a:latin typeface="Segoe UI"/>
              </a:defRPr>
            </a:pPr>
            <a:r>
              <a:t>💡 Formula: Set Scene + Specific Task + Stage/Grade + Style + Supervise</a:t>
            </a:r>
          </a:p>
          <a:p>
            <a:pPr>
              <a:defRPr sz="950">
                <a:solidFill>
                  <a:srgbClr val="2C3E50"/>
                </a:solidFill>
                <a:latin typeface="Segoe UI"/>
              </a:defRPr>
            </a:pPr>
            <a:r>
              <a:t>🎯 Student &amp; Campus Use Case: The safest framework for student self-tutoring without giving away direct answers.</a:t>
            </a:r>
          </a:p>
        </p:txBody>
      </p:sp>
      <p:sp>
        <p:nvSpPr>
          <p:cNvPr id="9" name="Rounded Rectangle 8"/>
          <p:cNvSpPr/>
          <p:nvPr/>
        </p:nvSpPr>
        <p:spPr>
          <a:xfrm>
            <a:off x="731520" y="2377440"/>
            <a:ext cx="5212080" cy="3886200"/>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468880"/>
            <a:ext cx="4846320" cy="3703320"/>
          </a:xfrm>
          <a:prstGeom prst="rect">
            <a:avLst/>
          </a:prstGeom>
          <a:noFill/>
        </p:spPr>
        <p:txBody>
          <a:bodyPr wrap="square">
            <a:spAutoFit/>
          </a:bodyPr>
          <a:lstStyle/>
          <a:p>
            <a:pPr>
              <a:spcAft>
                <a:spcPts val="600"/>
              </a:spcAft>
              <a:defRPr sz="1050" b="1">
                <a:solidFill>
                  <a:srgbClr val="38BDF8"/>
                </a:solidFill>
                <a:latin typeface="Segoe UI"/>
              </a:defRPr>
            </a:pPr>
            <a:r>
              <a:t>📥 COMPLETE INPUT PROMPT</a:t>
            </a:r>
          </a:p>
          <a:p>
            <a:pPr>
              <a:defRPr sz="900">
                <a:solidFill>
                  <a:srgbClr val="D4D4D4"/>
                </a:solidFill>
                <a:latin typeface="Consolas"/>
              </a:defRPr>
            </a:pPr>
            <a:r>
              <a:t>[Set the Scene]: Preparing for tomorrow's Data Structures final exam on Binary Search Trees (BST).</a:t>
            </a:r>
            <a:br/>
            <a:r>
              <a:t>[Specific Task]: Help me understand how node deletion works when the node has two children.</a:t>
            </a:r>
            <a:br/>
            <a:r>
              <a:t>[Stage &amp; Grade]: Undergraduate 2nd-year Computer Science student.</a:t>
            </a:r>
            <a:br/>
            <a:r>
              <a:t>[Style]: Socratic method—guide me step-by-step with conceptual questions; do NOT give me the full code answer immediately.</a:t>
            </a:r>
            <a:br/>
            <a:r>
              <a:t>[Supervise]: After each of my replies, tell me if my reasoning is sound, correct misconceptions, and ask the next question.</a:t>
            </a:r>
          </a:p>
        </p:txBody>
      </p:sp>
      <p:sp>
        <p:nvSpPr>
          <p:cNvPr id="11" name="Rounded Rectangle 10"/>
          <p:cNvSpPr/>
          <p:nvPr/>
        </p:nvSpPr>
        <p:spPr>
          <a:xfrm>
            <a:off x="6217920" y="2377440"/>
            <a:ext cx="5212080" cy="3886200"/>
          </a:xfrm>
          <a:prstGeom prst="roundRect">
            <a:avLst/>
          </a:prstGeom>
          <a:solidFill>
            <a:srgbClr val="F8F9FA"/>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468880"/>
            <a:ext cx="4846320" cy="3703320"/>
          </a:xfrm>
          <a:prstGeom prst="rect">
            <a:avLst/>
          </a:prstGeom>
          <a:noFill/>
        </p:spPr>
        <p:txBody>
          <a:bodyPr wrap="square">
            <a:spAutoFit/>
          </a:bodyPr>
          <a:lstStyle/>
          <a:p>
            <a:pPr>
              <a:spcAft>
                <a:spcPts val="600"/>
              </a:spcAft>
              <a:defRPr sz="1050" b="1">
                <a:solidFill>
                  <a:srgbClr val="27AE60"/>
                </a:solidFill>
                <a:latin typeface="Segoe UI"/>
              </a:defRPr>
            </a:pPr>
            <a:r>
              <a:t>📤 EXACT AI MODEL OUTPUT</a:t>
            </a:r>
          </a:p>
          <a:p>
            <a:pPr>
              <a:defRPr sz="950">
                <a:solidFill>
                  <a:srgbClr val="2C3E50"/>
                </a:solidFill>
                <a:latin typeface="Segoe UI"/>
              </a:defRPr>
            </a:pPr>
            <a:r>
              <a:t>Hello! Let's conquer BST node deletion together.</a:t>
            </a:r>
            <a:br/>
            <a:br/>
            <a:r>
              <a:t>Imagine you have a node 'X' with two children (a left subtree and a right subtree). If we delete 'X', a hole is left in the tree.</a:t>
            </a:r>
            <a:br/>
            <a:br/>
            <a:r>
              <a:t>To preserve the BST property (all values to the left are smaller, all values to the right are larger), we must replace 'X' with a node that is:</a:t>
            </a:r>
            <a:br/>
            <a:r>
              <a:t>1. Larger than everything in the left subtree, AND</a:t>
            </a:r>
            <a:br/>
            <a:r>
              <a:t>2. Smaller than everything else in the right subtree.</a:t>
            </a:r>
            <a:br/>
            <a:br/>
            <a:r>
              <a:t>Here is your first question:</a:t>
            </a:r>
            <a:br/>
            <a:r>
              <a:t>Looking into the right subtree of 'X', which specific node satisfies this condition? (Hint: Think about in-order traversal). </a:t>
            </a:r>
            <a:br/>
            <a:br/>
            <a:r>
              <a:t>Take your time and reply below!</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51560"/>
          </a:xfrm>
          <a:prstGeom prst="rect">
            <a:avLst/>
          </a:prstGeom>
          <a:noFill/>
        </p:spPr>
        <p:txBody>
          <a:bodyPr wrap="square" lIns="0" tIns="0" rIns="0" bIns="0">
            <a:spAutoFit/>
          </a:bodyPr>
          <a:lstStyle/>
          <a:p>
            <a:pPr>
              <a:spcAft>
                <a:spcPts val="200"/>
              </a:spcAft>
              <a:defRPr sz="950" b="1">
                <a:solidFill>
                  <a:srgbClr val="3498DB"/>
                </a:solidFill>
                <a:latin typeface="Segoe UI"/>
              </a:defRPr>
            </a:pPr>
            <a:r>
              <a:t>PROMPT FRAMEWORKS FOR STUDENTS</a:t>
            </a:r>
          </a:p>
          <a:p>
            <a:pPr>
              <a:spcAft>
                <a:spcPts val="200"/>
              </a:spcAft>
              <a:defRPr sz="2100" b="1">
                <a:solidFill>
                  <a:srgbClr val="2C3E50"/>
                </a:solidFill>
                <a:latin typeface="Segoe UI"/>
              </a:defRPr>
            </a:pPr>
            <a:r>
              <a:t>Framework 10: PARTS (Differentiated Instruction)</a:t>
            </a:r>
          </a:p>
          <a:p>
            <a:pPr>
              <a:defRPr sz="1100">
                <a:solidFill>
                  <a:srgbClr val="7F8C8D"/>
                </a:solidFill>
                <a:latin typeface="Segoe UI"/>
              </a:defRPr>
            </a:pPr>
            <a:r>
              <a:t>Designs tiered, multi-level instruction and assignments tailored to varying student skill levels.</a:t>
            </a:r>
          </a:p>
        </p:txBody>
      </p:sp>
      <p:sp>
        <p:nvSpPr>
          <p:cNvPr id="4" name="Rectangle 3"/>
          <p:cNvSpPr/>
          <p:nvPr/>
        </p:nvSpPr>
        <p:spPr>
          <a:xfrm>
            <a:off x="731520" y="1353312"/>
            <a:ext cx="10728655" cy="36576"/>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F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none" lIns="0" tIns="0" rIns="0" bIns="0">
            <a:spAutoFit/>
          </a:bodyPr>
          <a:lstStyle/>
          <a:p>
            <a:pPr>
              <a:defRPr sz="900">
                <a:solidFill>
                  <a:srgbClr val="7F8C8D"/>
                </a:solidFill>
                <a:latin typeface="Segoe UI"/>
              </a:defRPr>
            </a:pPr>
            <a:r>
              <a:t>AI &amp; Industry 4.0 Workshop  |  Prompt Frameworks &amp; Local Automation  •  Slide 27 of 35</a:t>
            </a:r>
          </a:p>
        </p:txBody>
      </p:sp>
      <p:sp>
        <p:nvSpPr>
          <p:cNvPr id="7" name="Rounded Rectangle 6"/>
          <p:cNvSpPr/>
          <p:nvPr/>
        </p:nvSpPr>
        <p:spPr>
          <a:xfrm>
            <a:off x="731520" y="1508760"/>
            <a:ext cx="10728655" cy="731520"/>
          </a:xfrm>
          <a:prstGeom prst="roundRect">
            <a:avLst/>
          </a:prstGeom>
          <a:solidFill>
            <a:srgbClr val="E8F4FD"/>
          </a:solidFill>
          <a:ln w="1905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54480"/>
            <a:ext cx="10362895" cy="640080"/>
          </a:xfrm>
          <a:prstGeom prst="rect">
            <a:avLst/>
          </a:prstGeom>
          <a:noFill/>
        </p:spPr>
        <p:txBody>
          <a:bodyPr wrap="square">
            <a:spAutoFit/>
          </a:bodyPr>
          <a:lstStyle/>
          <a:p>
            <a:pPr>
              <a:spcAft>
                <a:spcPts val="200"/>
              </a:spcAft>
              <a:defRPr sz="1050" b="1">
                <a:solidFill>
                  <a:srgbClr val="2C3E50"/>
                </a:solidFill>
                <a:latin typeface="Segoe UI"/>
              </a:defRPr>
            </a:pPr>
            <a:r>
              <a:t>💡 Formula: Persona + Aim + Recipients + Theme + Structure</a:t>
            </a:r>
          </a:p>
          <a:p>
            <a:pPr>
              <a:defRPr sz="950">
                <a:solidFill>
                  <a:srgbClr val="2C3E50"/>
                </a:solidFill>
                <a:latin typeface="Segoe UI"/>
              </a:defRPr>
            </a:pPr>
            <a:r>
              <a:t>🎯 Student &amp; Campus Use Case: Creating tiered, multi-level instruction and assignments for varying student skill levels.</a:t>
            </a:r>
          </a:p>
        </p:txBody>
      </p:sp>
      <p:sp>
        <p:nvSpPr>
          <p:cNvPr id="9" name="Rounded Rectangle 8"/>
          <p:cNvSpPr/>
          <p:nvPr/>
        </p:nvSpPr>
        <p:spPr>
          <a:xfrm>
            <a:off x="731520" y="2377440"/>
            <a:ext cx="5212080" cy="3886200"/>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468880"/>
            <a:ext cx="4846320" cy="3703320"/>
          </a:xfrm>
          <a:prstGeom prst="rect">
            <a:avLst/>
          </a:prstGeom>
          <a:noFill/>
        </p:spPr>
        <p:txBody>
          <a:bodyPr wrap="square">
            <a:spAutoFit/>
          </a:bodyPr>
          <a:lstStyle/>
          <a:p>
            <a:pPr>
              <a:spcAft>
                <a:spcPts val="600"/>
              </a:spcAft>
              <a:defRPr sz="1050" b="1">
                <a:solidFill>
                  <a:srgbClr val="38BDF8"/>
                </a:solidFill>
                <a:latin typeface="Segoe UI"/>
              </a:defRPr>
            </a:pPr>
            <a:r>
              <a:t>📥 COMPLETE INPUT PROMPT</a:t>
            </a:r>
          </a:p>
          <a:p>
            <a:pPr>
              <a:defRPr sz="900">
                <a:solidFill>
                  <a:srgbClr val="D4D4D4"/>
                </a:solidFill>
                <a:latin typeface="Consolas"/>
              </a:defRPr>
            </a:pPr>
            <a:r>
              <a:t>[Persona]: Head Teaching Assistant for Web Development 101.</a:t>
            </a:r>
            <a:br/>
            <a:r>
              <a:t>[Aim]: Design a weekend coding homework assignment on REST APIs with 3 tiered difficulty levels.</a:t>
            </a:r>
            <a:br/>
            <a:r>
              <a:t>[Recipients]: Diverse student cohort ranging from absolute beginners to advanced coders.</a:t>
            </a:r>
            <a:br/>
            <a:r>
              <a:t>[Theme]: Campus Canteen Food Ordering System.</a:t>
            </a:r>
            <a:br/>
            <a:r>
              <a:t>[Structure]:</a:t>
            </a:r>
            <a:br/>
            <a:r>
              <a:t>- Tier 1 (Foundational): Basic GET requests &amp; HTML display</a:t>
            </a:r>
            <a:br/>
            <a:r>
              <a:t>- Tier 2 (Intermediate): POST requests, validation, and JSON storage</a:t>
            </a:r>
            <a:br/>
            <a:r>
              <a:t>- Tier 3 (Advanced): JWT authentication &amp; rate limiting.</a:t>
            </a:r>
          </a:p>
        </p:txBody>
      </p:sp>
      <p:sp>
        <p:nvSpPr>
          <p:cNvPr id="11" name="Rounded Rectangle 10"/>
          <p:cNvSpPr/>
          <p:nvPr/>
        </p:nvSpPr>
        <p:spPr>
          <a:xfrm>
            <a:off x="6217920" y="2377440"/>
            <a:ext cx="5212080" cy="3886200"/>
          </a:xfrm>
          <a:prstGeom prst="roundRect">
            <a:avLst/>
          </a:prstGeom>
          <a:solidFill>
            <a:srgbClr val="F8F9FA"/>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468880"/>
            <a:ext cx="4846320" cy="3703320"/>
          </a:xfrm>
          <a:prstGeom prst="rect">
            <a:avLst/>
          </a:prstGeom>
          <a:noFill/>
        </p:spPr>
        <p:txBody>
          <a:bodyPr wrap="square">
            <a:spAutoFit/>
          </a:bodyPr>
          <a:lstStyle/>
          <a:p>
            <a:pPr>
              <a:spcAft>
                <a:spcPts val="600"/>
              </a:spcAft>
              <a:defRPr sz="1050" b="1">
                <a:solidFill>
                  <a:srgbClr val="27AE60"/>
                </a:solidFill>
                <a:latin typeface="Segoe UI"/>
              </a:defRPr>
            </a:pPr>
            <a:r>
              <a:t>📤 EXACT AI MODEL OUTPUT</a:t>
            </a:r>
          </a:p>
          <a:p>
            <a:pPr>
              <a:defRPr sz="950">
                <a:solidFill>
                  <a:srgbClr val="2C3E50"/>
                </a:solidFill>
                <a:latin typeface="Segoe UI"/>
              </a:defRPr>
            </a:pPr>
            <a:r>
              <a:t>WEEKEND HOMEWORK: CAMPUS CANTEEN API (CHOOSE YOUR TIER)</a:t>
            </a:r>
            <a:br/>
            <a:br/>
            <a:r>
              <a:t>Theme: Build a digital ordering service for our college cafeteria!</a:t>
            </a:r>
            <a:br/>
            <a:br/>
            <a:r>
              <a:t>🟢 Tier 1: The Fast Snack (Foundational)</a:t>
            </a:r>
            <a:br/>
            <a:r>
              <a:t>• Task: Build an Express.js route `GET /menu` that returns 5 canteen items as JSON.</a:t>
            </a:r>
            <a:br/>
            <a:r>
              <a:t>• Frontend: Display items on an HTML page using standard `fetch()`.</a:t>
            </a:r>
            <a:br/>
            <a:br/>
            <a:r>
              <a:t>🟡 Tier 2: The Full Meal (Intermediate)</a:t>
            </a:r>
            <a:br/>
            <a:r>
              <a:t>• Task: Build `POST /order` route. Validate student ID format and item availability.</a:t>
            </a:r>
            <a:br/>
            <a:r>
              <a:t>• Storage: Persist orders into a local `orders.json` file; return total bill and receipt number.</a:t>
            </a:r>
            <a:br/>
            <a:br/>
            <a:r>
              <a:t>🔴 Tier 3: The Chef's Special (Advanced Challenge)</a:t>
            </a:r>
            <a:br/>
            <a:r>
              <a:t>• Task: Implement role-based JWT access (`student` vs `canteen_admin`).</a:t>
            </a:r>
            <a:br/>
            <a:r>
              <a:t>• Add rate limiting (max 5 orders/minute) to prevent bot spam during lunchtime rush.</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51560"/>
          </a:xfrm>
          <a:prstGeom prst="rect">
            <a:avLst/>
          </a:prstGeom>
          <a:noFill/>
        </p:spPr>
        <p:txBody>
          <a:bodyPr wrap="square" lIns="0" tIns="0" rIns="0" bIns="0">
            <a:spAutoFit/>
          </a:bodyPr>
          <a:lstStyle/>
          <a:p>
            <a:pPr>
              <a:spcAft>
                <a:spcPts val="200"/>
              </a:spcAft>
              <a:defRPr sz="950" b="1">
                <a:solidFill>
                  <a:srgbClr val="3498DB"/>
                </a:solidFill>
                <a:latin typeface="Segoe UI"/>
              </a:defRPr>
            </a:pPr>
            <a:r>
              <a:t>LOCAL AI INFRASTRUCTURE</a:t>
            </a:r>
          </a:p>
          <a:p>
            <a:pPr>
              <a:spcAft>
                <a:spcPts val="400"/>
              </a:spcAft>
              <a:defRPr sz="2100" b="1">
                <a:solidFill>
                  <a:srgbClr val="2C3E50"/>
                </a:solidFill>
                <a:latin typeface="Segoe UI"/>
              </a:defRPr>
            </a:pPr>
            <a:r>
              <a:t>Why Local AI with Ollama? (Zero Cloud Dependencies)</a:t>
            </a:r>
          </a:p>
        </p:txBody>
      </p:sp>
      <p:sp>
        <p:nvSpPr>
          <p:cNvPr id="4" name="Rectangle 3"/>
          <p:cNvSpPr/>
          <p:nvPr/>
        </p:nvSpPr>
        <p:spPr>
          <a:xfrm>
            <a:off x="731520" y="1353312"/>
            <a:ext cx="10728655" cy="36576"/>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F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none" lIns="0" tIns="0" rIns="0" bIns="0">
            <a:spAutoFit/>
          </a:bodyPr>
          <a:lstStyle/>
          <a:p>
            <a:pPr>
              <a:defRPr sz="900">
                <a:solidFill>
                  <a:srgbClr val="7F8C8D"/>
                </a:solidFill>
                <a:latin typeface="Segoe UI"/>
              </a:defRPr>
            </a:pPr>
            <a:r>
              <a:t>AI &amp; Industry 4.0 Workshop  |  Prompt Frameworks &amp; Local Automation  •  Slide 28 of 35</a:t>
            </a:r>
          </a:p>
        </p:txBody>
      </p:sp>
      <p:sp>
        <p:nvSpPr>
          <p:cNvPr id="7" name="Rounded Rectangle 6"/>
          <p:cNvSpPr/>
          <p:nvPr/>
        </p:nvSpPr>
        <p:spPr>
          <a:xfrm>
            <a:off x="731520" y="1536192"/>
            <a:ext cx="5212080" cy="4617720"/>
          </a:xfrm>
          <a:prstGeom prst="roundRect">
            <a:avLst/>
          </a:prstGeom>
          <a:solidFill>
            <a:srgbClr val="F8F9FA"/>
          </a:solidFill>
          <a:ln w="1905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719072"/>
            <a:ext cx="4663440" cy="4251960"/>
          </a:xfrm>
          <a:prstGeom prst="rect">
            <a:avLst/>
          </a:prstGeom>
          <a:noFill/>
        </p:spPr>
        <p:txBody>
          <a:bodyPr wrap="square">
            <a:spAutoFit/>
          </a:bodyPr>
          <a:lstStyle/>
          <a:p>
            <a:pPr>
              <a:spcAft>
                <a:spcPts val="1200"/>
              </a:spcAft>
              <a:defRPr sz="1500" b="1">
                <a:solidFill>
                  <a:srgbClr val="E74C3C"/>
                </a:solidFill>
                <a:latin typeface="Segoe UI"/>
              </a:defRPr>
            </a:pPr>
            <a:r>
              <a:t>☁️ Cloud APIs (OpenAI / Anthropic)</a:t>
            </a:r>
          </a:p>
          <a:p>
            <a:pPr>
              <a:spcAft>
                <a:spcPts val="800"/>
              </a:spcAft>
              <a:defRPr sz="1100">
                <a:solidFill>
                  <a:srgbClr val="2C3E50"/>
                </a:solidFill>
                <a:latin typeface="Segoe UI"/>
              </a:defRPr>
            </a:pPr>
            <a:r>
              <a:t>• Requires credit card and prepaid account balances.</a:t>
            </a:r>
          </a:p>
          <a:p>
            <a:pPr>
              <a:spcAft>
                <a:spcPts val="800"/>
              </a:spcAft>
              <a:defRPr sz="1100">
                <a:solidFill>
                  <a:srgbClr val="2C3E50"/>
                </a:solidFill>
                <a:latin typeface="Segoe UI"/>
              </a:defRPr>
            </a:pPr>
            <a:r>
              <a:t>• Token metering: Running automated scheduled pipelines costs money on every execution.</a:t>
            </a:r>
          </a:p>
          <a:p>
            <a:pPr>
              <a:spcAft>
                <a:spcPts val="800"/>
              </a:spcAft>
              <a:defRPr sz="1100">
                <a:solidFill>
                  <a:srgbClr val="2C3E50"/>
                </a:solidFill>
                <a:latin typeface="Segoe UI"/>
              </a:defRPr>
            </a:pPr>
            <a:r>
              <a:t>• API Key risk: Leaking API keys in public GitHub repos leads to huge surprise bills.</a:t>
            </a:r>
          </a:p>
          <a:p>
            <a:pPr>
              <a:spcAft>
                <a:spcPts val="800"/>
              </a:spcAft>
              <a:defRPr sz="1100">
                <a:solidFill>
                  <a:srgbClr val="2C3E50"/>
                </a:solidFill>
                <a:latin typeface="Segoe UI"/>
              </a:defRPr>
            </a:pPr>
            <a:r>
              <a:t>• Requires active high-speed internet connection 24/7.</a:t>
            </a:r>
          </a:p>
        </p:txBody>
      </p:sp>
      <p:sp>
        <p:nvSpPr>
          <p:cNvPr id="9" name="Rounded Rectangle 8"/>
          <p:cNvSpPr/>
          <p:nvPr/>
        </p:nvSpPr>
        <p:spPr>
          <a:xfrm>
            <a:off x="6217920" y="1536192"/>
            <a:ext cx="5212080" cy="4617720"/>
          </a:xfrm>
          <a:prstGeom prst="roundRect">
            <a:avLst/>
          </a:prstGeom>
          <a:solidFill>
            <a:srgbClr val="F8F9FA"/>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719072"/>
            <a:ext cx="4663440" cy="4251960"/>
          </a:xfrm>
          <a:prstGeom prst="rect">
            <a:avLst/>
          </a:prstGeom>
          <a:noFill/>
        </p:spPr>
        <p:txBody>
          <a:bodyPr wrap="square">
            <a:spAutoFit/>
          </a:bodyPr>
          <a:lstStyle/>
          <a:p>
            <a:pPr>
              <a:spcAft>
                <a:spcPts val="1200"/>
              </a:spcAft>
              <a:defRPr sz="1500" b="1">
                <a:solidFill>
                  <a:srgbClr val="27AE60"/>
                </a:solidFill>
                <a:latin typeface="Segoe UI"/>
              </a:defRPr>
            </a:pPr>
            <a:r>
              <a:t>💻 Local AI with Ollama (Self-Hosted)</a:t>
            </a:r>
          </a:p>
          <a:p>
            <a:pPr>
              <a:spcAft>
                <a:spcPts val="800"/>
              </a:spcAft>
              <a:defRPr sz="1100">
                <a:solidFill>
                  <a:srgbClr val="2C3E50"/>
                </a:solidFill>
                <a:latin typeface="Segoe UI"/>
              </a:defRPr>
            </a:pPr>
            <a:r>
              <a:t>• 100% Free Forever: Runs models directly on your Mac, Windows, or Linux laptop.</a:t>
            </a:r>
          </a:p>
          <a:p>
            <a:pPr>
              <a:spcAft>
                <a:spcPts val="800"/>
              </a:spcAft>
              <a:defRPr sz="1100">
                <a:solidFill>
                  <a:srgbClr val="2C3E50"/>
                </a:solidFill>
                <a:latin typeface="Segoe UI"/>
              </a:defRPr>
            </a:pPr>
            <a:r>
              <a:t>• Zero API keys: Nothing to leak, nothing to renew.</a:t>
            </a:r>
          </a:p>
          <a:p>
            <a:pPr>
              <a:spcAft>
                <a:spcPts val="800"/>
              </a:spcAft>
              <a:defRPr sz="1100">
                <a:solidFill>
                  <a:srgbClr val="2C3E50"/>
                </a:solidFill>
                <a:latin typeface="Segoe UI"/>
              </a:defRPr>
            </a:pPr>
            <a:r>
              <a:t>• Total Privacy: Personal notes, college notices, and student data stay on your machine.</a:t>
            </a:r>
          </a:p>
          <a:p>
            <a:pPr>
              <a:spcAft>
                <a:spcPts val="800"/>
              </a:spcAft>
              <a:defRPr sz="1100">
                <a:solidFill>
                  <a:srgbClr val="2C3E50"/>
                </a:solidFill>
                <a:latin typeface="Segoe UI"/>
              </a:defRPr>
            </a:pPr>
            <a:r>
              <a:t>• Offline capable: Build, debug, and run your agents in classrooms with zero Wi-Fi.</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51560"/>
          </a:xfrm>
          <a:prstGeom prst="rect">
            <a:avLst/>
          </a:prstGeom>
          <a:noFill/>
        </p:spPr>
        <p:txBody>
          <a:bodyPr wrap="square" lIns="0" tIns="0" rIns="0" bIns="0">
            <a:spAutoFit/>
          </a:bodyPr>
          <a:lstStyle/>
          <a:p>
            <a:pPr>
              <a:spcAft>
                <a:spcPts val="200"/>
              </a:spcAft>
              <a:defRPr sz="950" b="1">
                <a:solidFill>
                  <a:srgbClr val="3498DB"/>
                </a:solidFill>
                <a:latin typeface="Segoe UI"/>
              </a:defRPr>
            </a:pPr>
            <a:r>
              <a:t>LOCAL AI INFRASTRUCTURE</a:t>
            </a:r>
          </a:p>
          <a:p>
            <a:pPr>
              <a:spcAft>
                <a:spcPts val="200"/>
              </a:spcAft>
              <a:defRPr sz="2100" b="1">
                <a:solidFill>
                  <a:srgbClr val="2C3E50"/>
                </a:solidFill>
                <a:latin typeface="Segoe UI"/>
              </a:defRPr>
            </a:pPr>
            <a:r>
              <a:t>Step-by-Step: Installing &amp; Running Ollama on Your Laptop</a:t>
            </a:r>
          </a:p>
          <a:p>
            <a:pPr>
              <a:defRPr sz="1100">
                <a:solidFill>
                  <a:srgbClr val="7F8C8D"/>
                </a:solidFill>
                <a:latin typeface="Segoe UI"/>
              </a:defRPr>
            </a:pPr>
            <a:r>
              <a:t>Getting your local AI engine running in 4 simple steps</a:t>
            </a:r>
          </a:p>
        </p:txBody>
      </p:sp>
      <p:sp>
        <p:nvSpPr>
          <p:cNvPr id="4" name="Rectangle 3"/>
          <p:cNvSpPr/>
          <p:nvPr/>
        </p:nvSpPr>
        <p:spPr>
          <a:xfrm>
            <a:off x="731520" y="1353312"/>
            <a:ext cx="10728655" cy="36576"/>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F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none" lIns="0" tIns="0" rIns="0" bIns="0">
            <a:spAutoFit/>
          </a:bodyPr>
          <a:lstStyle/>
          <a:p>
            <a:pPr>
              <a:defRPr sz="900">
                <a:solidFill>
                  <a:srgbClr val="7F8C8D"/>
                </a:solidFill>
                <a:latin typeface="Segoe UI"/>
              </a:defRPr>
            </a:pPr>
            <a:r>
              <a:t>AI &amp; Industry 4.0 Workshop  |  Prompt Frameworks &amp; Local Automation  •  Slide 29 of 35</a:t>
            </a:r>
          </a:p>
        </p:txBody>
      </p:sp>
      <p:sp>
        <p:nvSpPr>
          <p:cNvPr id="7" name="Rounded Rectangle 6"/>
          <p:cNvSpPr/>
          <p:nvPr/>
        </p:nvSpPr>
        <p:spPr>
          <a:xfrm>
            <a:off x="731520" y="1508760"/>
            <a:ext cx="10728655" cy="1051560"/>
          </a:xfrm>
          <a:prstGeom prst="roundRect">
            <a:avLst/>
          </a:prstGeom>
          <a:solidFill>
            <a:srgbClr val="F8F9FA"/>
          </a:solidFill>
          <a:ln w="1905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00200"/>
            <a:ext cx="10362895" cy="868680"/>
          </a:xfrm>
          <a:prstGeom prst="rect">
            <a:avLst/>
          </a:prstGeom>
          <a:noFill/>
        </p:spPr>
        <p:txBody>
          <a:bodyPr wrap="square">
            <a:spAutoFit/>
          </a:bodyPr>
          <a:lstStyle/>
          <a:p>
            <a:pPr>
              <a:spcAft>
                <a:spcPts val="200"/>
              </a:spcAft>
              <a:defRPr sz="1300" b="1">
                <a:solidFill>
                  <a:srgbClr val="3498DB"/>
                </a:solidFill>
                <a:latin typeface="Segoe UI"/>
              </a:defRPr>
            </a:pPr>
            <a:r>
              <a:t>Step 1: Download &amp; Install</a:t>
            </a:r>
          </a:p>
          <a:p>
            <a:pPr>
              <a:defRPr sz="1050">
                <a:solidFill>
                  <a:srgbClr val="2C3E50"/>
                </a:solidFill>
                <a:latin typeface="Segoe UI"/>
              </a:defRPr>
            </a:pPr>
            <a:r>
              <a:t>Visit ollama.com. Download the installer for Windows, macOS, or Linux. Run the setup wizard in under 2 minutes.</a:t>
            </a:r>
          </a:p>
        </p:txBody>
      </p:sp>
      <p:sp>
        <p:nvSpPr>
          <p:cNvPr id="9" name="Rounded Rectangle 8"/>
          <p:cNvSpPr/>
          <p:nvPr/>
        </p:nvSpPr>
        <p:spPr>
          <a:xfrm>
            <a:off x="731520" y="2697480"/>
            <a:ext cx="10728655" cy="1051560"/>
          </a:xfrm>
          <a:prstGeom prst="roundRect">
            <a:avLst/>
          </a:prstGeom>
          <a:solidFill>
            <a:srgbClr val="F8F9FA"/>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788920"/>
            <a:ext cx="10362895" cy="868680"/>
          </a:xfrm>
          <a:prstGeom prst="rect">
            <a:avLst/>
          </a:prstGeom>
          <a:noFill/>
        </p:spPr>
        <p:txBody>
          <a:bodyPr wrap="square">
            <a:spAutoFit/>
          </a:bodyPr>
          <a:lstStyle/>
          <a:p>
            <a:pPr>
              <a:spcAft>
                <a:spcPts val="200"/>
              </a:spcAft>
              <a:defRPr sz="1300" b="1">
                <a:solidFill>
                  <a:srgbClr val="27AE60"/>
                </a:solidFill>
                <a:latin typeface="Segoe UI"/>
              </a:defRPr>
            </a:pPr>
            <a:r>
              <a:t>Step 2: Verify in Terminal</a:t>
            </a:r>
          </a:p>
          <a:p>
            <a:pPr>
              <a:defRPr sz="1050">
                <a:solidFill>
                  <a:srgbClr val="2C3E50"/>
                </a:solidFill>
                <a:latin typeface="Segoe UI"/>
              </a:defRPr>
            </a:pPr>
            <a:r>
              <a:t>Open Command Prompt (Windows) or Terminal (Mac/Linux) and verify installation:</a:t>
            </a:r>
          </a:p>
          <a:p>
            <a:pPr>
              <a:defRPr sz="950" b="1">
                <a:solidFill>
                  <a:srgbClr val="2C3E50"/>
                </a:solidFill>
                <a:latin typeface="Consolas"/>
              </a:defRPr>
            </a:pPr>
            <a:r>
              <a:t>$ ollama --version</a:t>
            </a:r>
          </a:p>
        </p:txBody>
      </p:sp>
      <p:sp>
        <p:nvSpPr>
          <p:cNvPr id="11" name="Rounded Rectangle 10"/>
          <p:cNvSpPr/>
          <p:nvPr/>
        </p:nvSpPr>
        <p:spPr>
          <a:xfrm>
            <a:off x="731520" y="3886200"/>
            <a:ext cx="10728655" cy="1051560"/>
          </a:xfrm>
          <a:prstGeom prst="roundRect">
            <a:avLst/>
          </a:prstGeom>
          <a:solidFill>
            <a:srgbClr val="F8F9FA"/>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977640"/>
            <a:ext cx="10362895" cy="868680"/>
          </a:xfrm>
          <a:prstGeom prst="rect">
            <a:avLst/>
          </a:prstGeom>
          <a:noFill/>
        </p:spPr>
        <p:txBody>
          <a:bodyPr wrap="square">
            <a:spAutoFit/>
          </a:bodyPr>
          <a:lstStyle/>
          <a:p>
            <a:pPr>
              <a:spcAft>
                <a:spcPts val="200"/>
              </a:spcAft>
              <a:defRPr sz="1300" b="1">
                <a:solidFill>
                  <a:srgbClr val="9B59B6"/>
                </a:solidFill>
                <a:latin typeface="Segoe UI"/>
              </a:defRPr>
            </a:pPr>
            <a:r>
              <a:t>Step 3: Pull &amp; Run Lightweight Model</a:t>
            </a:r>
          </a:p>
          <a:p>
            <a:pPr>
              <a:defRPr sz="1050">
                <a:solidFill>
                  <a:srgbClr val="2C3E50"/>
                </a:solidFill>
                <a:latin typeface="Segoe UI"/>
              </a:defRPr>
            </a:pPr>
            <a:r>
              <a:t>Download and start a fast 3-billion parameter model optimized for student laptops:</a:t>
            </a:r>
          </a:p>
          <a:p>
            <a:pPr>
              <a:defRPr sz="950" b="1">
                <a:solidFill>
                  <a:srgbClr val="2C3E50"/>
                </a:solidFill>
                <a:latin typeface="Consolas"/>
              </a:defRPr>
            </a:pPr>
            <a:r>
              <a:t>$ ollama run qwen2.5:3b</a:t>
            </a:r>
          </a:p>
        </p:txBody>
      </p:sp>
      <p:sp>
        <p:nvSpPr>
          <p:cNvPr id="13" name="Rounded Rectangle 12"/>
          <p:cNvSpPr/>
          <p:nvPr/>
        </p:nvSpPr>
        <p:spPr>
          <a:xfrm>
            <a:off x="731520" y="5074920"/>
            <a:ext cx="10728655" cy="1051560"/>
          </a:xfrm>
          <a:prstGeom prst="roundRect">
            <a:avLst/>
          </a:prstGeom>
          <a:solidFill>
            <a:srgbClr val="F8F9FA"/>
          </a:solidFill>
          <a:ln w="1905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166360"/>
            <a:ext cx="10362895" cy="868680"/>
          </a:xfrm>
          <a:prstGeom prst="rect">
            <a:avLst/>
          </a:prstGeom>
          <a:noFill/>
        </p:spPr>
        <p:txBody>
          <a:bodyPr wrap="square">
            <a:spAutoFit/>
          </a:bodyPr>
          <a:lstStyle/>
          <a:p>
            <a:pPr>
              <a:spcAft>
                <a:spcPts val="200"/>
              </a:spcAft>
              <a:defRPr sz="1300" b="1">
                <a:solidFill>
                  <a:srgbClr val="F39C12"/>
                </a:solidFill>
                <a:latin typeface="Segoe UI"/>
              </a:defRPr>
            </a:pPr>
            <a:r>
              <a:t>Step 4: Verify Local Server</a:t>
            </a:r>
          </a:p>
          <a:p>
            <a:pPr>
              <a:defRPr sz="1050">
                <a:solidFill>
                  <a:srgbClr val="2C3E50"/>
                </a:solidFill>
                <a:latin typeface="Segoe UI"/>
              </a:defRPr>
            </a:pPr>
            <a:r>
              <a:t>Ollama automatically starts a background REST API server listening on localhost port 11434:</a:t>
            </a:r>
          </a:p>
          <a:p>
            <a:pPr>
              <a:defRPr sz="950" b="1">
                <a:solidFill>
                  <a:srgbClr val="2C3E50"/>
                </a:solidFill>
                <a:latin typeface="Consolas"/>
              </a:defRPr>
            </a:pPr>
            <a:r>
              <a:t>$ curl http://localhost:11434/api/tags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51560"/>
          </a:xfrm>
          <a:prstGeom prst="rect">
            <a:avLst/>
          </a:prstGeom>
          <a:noFill/>
        </p:spPr>
        <p:txBody>
          <a:bodyPr wrap="square" lIns="0" tIns="0" rIns="0" bIns="0">
            <a:spAutoFit/>
          </a:bodyPr>
          <a:lstStyle/>
          <a:p>
            <a:pPr>
              <a:spcAft>
                <a:spcPts val="200"/>
              </a:spcAft>
              <a:defRPr sz="950" b="1">
                <a:solidFill>
                  <a:srgbClr val="3498DB"/>
                </a:solidFill>
                <a:latin typeface="Segoe UI"/>
              </a:defRPr>
            </a:pPr>
            <a:r>
              <a:t>WORKFLOW ORCHESTRATION</a:t>
            </a:r>
          </a:p>
          <a:p>
            <a:pPr>
              <a:spcAft>
                <a:spcPts val="200"/>
              </a:spcAft>
              <a:defRPr sz="2100" b="1">
                <a:solidFill>
                  <a:srgbClr val="2C3E50"/>
                </a:solidFill>
                <a:latin typeface="Segoe UI"/>
              </a:defRPr>
            </a:pPr>
            <a:r>
              <a:t>Step-by-Step: Setting Up n8n Locally (No Account Needed)</a:t>
            </a:r>
          </a:p>
          <a:p>
            <a:pPr>
              <a:defRPr sz="1100">
                <a:solidFill>
                  <a:srgbClr val="7F8C8D"/>
                </a:solidFill>
                <a:latin typeface="Segoe UI"/>
              </a:defRPr>
            </a:pPr>
            <a:r>
              <a:t>Visual programming for powerful digital pipelines</a:t>
            </a:r>
          </a:p>
        </p:txBody>
      </p:sp>
      <p:sp>
        <p:nvSpPr>
          <p:cNvPr id="4" name="Rectangle 3"/>
          <p:cNvSpPr/>
          <p:nvPr/>
        </p:nvSpPr>
        <p:spPr>
          <a:xfrm>
            <a:off x="731520" y="1353312"/>
            <a:ext cx="10728655" cy="36576"/>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F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none" lIns="0" tIns="0" rIns="0" bIns="0">
            <a:spAutoFit/>
          </a:bodyPr>
          <a:lstStyle/>
          <a:p>
            <a:pPr>
              <a:defRPr sz="900">
                <a:solidFill>
                  <a:srgbClr val="7F8C8D"/>
                </a:solidFill>
                <a:latin typeface="Segoe UI"/>
              </a:defRPr>
            </a:pPr>
            <a:r>
              <a:t>AI &amp; Industry 4.0 Workshop  |  Prompt Frameworks &amp; Local Automation  •  Slide 30 of 35</a:t>
            </a:r>
          </a:p>
        </p:txBody>
      </p:sp>
      <p:sp>
        <p:nvSpPr>
          <p:cNvPr id="7" name="Rounded Rectangle 6"/>
          <p:cNvSpPr/>
          <p:nvPr/>
        </p:nvSpPr>
        <p:spPr>
          <a:xfrm>
            <a:off x="731520" y="1508760"/>
            <a:ext cx="10728655" cy="1051560"/>
          </a:xfrm>
          <a:prstGeom prst="roundRect">
            <a:avLst/>
          </a:prstGeom>
          <a:solidFill>
            <a:srgbClr val="F8F9FA"/>
          </a:solidFill>
          <a:ln w="1905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00200"/>
            <a:ext cx="10362895" cy="868680"/>
          </a:xfrm>
          <a:prstGeom prst="rect">
            <a:avLst/>
          </a:prstGeom>
          <a:noFill/>
        </p:spPr>
        <p:txBody>
          <a:bodyPr wrap="square">
            <a:spAutoFit/>
          </a:bodyPr>
          <a:lstStyle/>
          <a:p>
            <a:pPr>
              <a:spcAft>
                <a:spcPts val="200"/>
              </a:spcAft>
              <a:defRPr sz="1300" b="1">
                <a:solidFill>
                  <a:srgbClr val="3498DB"/>
                </a:solidFill>
                <a:latin typeface="Segoe UI"/>
              </a:defRPr>
            </a:pPr>
            <a:r>
              <a:t>Step 1: Launch via Node.js</a:t>
            </a:r>
          </a:p>
          <a:p>
            <a:pPr>
              <a:defRPr sz="1050">
                <a:solidFill>
                  <a:srgbClr val="2C3E50"/>
                </a:solidFill>
                <a:latin typeface="Segoe UI"/>
              </a:defRPr>
            </a:pPr>
            <a:r>
              <a:t>With Node.js installed on your computer, launch n8n locally with a single terminal command:</a:t>
            </a:r>
          </a:p>
          <a:p>
            <a:pPr>
              <a:defRPr sz="950" b="1">
                <a:solidFill>
                  <a:srgbClr val="2C3E50"/>
                </a:solidFill>
                <a:latin typeface="Consolas"/>
              </a:defRPr>
            </a:pPr>
            <a:r>
              <a:t>$ npx n8n</a:t>
            </a:r>
          </a:p>
        </p:txBody>
      </p:sp>
      <p:sp>
        <p:nvSpPr>
          <p:cNvPr id="9" name="Rounded Rectangle 8"/>
          <p:cNvSpPr/>
          <p:nvPr/>
        </p:nvSpPr>
        <p:spPr>
          <a:xfrm>
            <a:off x="731520" y="2697480"/>
            <a:ext cx="10728655" cy="1051560"/>
          </a:xfrm>
          <a:prstGeom prst="roundRect">
            <a:avLst/>
          </a:prstGeom>
          <a:solidFill>
            <a:srgbClr val="F8F9FA"/>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788920"/>
            <a:ext cx="10362895" cy="868680"/>
          </a:xfrm>
          <a:prstGeom prst="rect">
            <a:avLst/>
          </a:prstGeom>
          <a:noFill/>
        </p:spPr>
        <p:txBody>
          <a:bodyPr wrap="square">
            <a:spAutoFit/>
          </a:bodyPr>
          <a:lstStyle/>
          <a:p>
            <a:pPr>
              <a:spcAft>
                <a:spcPts val="200"/>
              </a:spcAft>
              <a:defRPr sz="1300" b="1">
                <a:solidFill>
                  <a:srgbClr val="27AE60"/>
                </a:solidFill>
                <a:latin typeface="Segoe UI"/>
              </a:defRPr>
            </a:pPr>
            <a:r>
              <a:t>Step 2: Access Visual Canvas</a:t>
            </a:r>
          </a:p>
          <a:p>
            <a:pPr>
              <a:defRPr sz="1050">
                <a:solidFill>
                  <a:srgbClr val="2C3E50"/>
                </a:solidFill>
                <a:latin typeface="Segoe UI"/>
              </a:defRPr>
            </a:pPr>
            <a:r>
              <a:t>Open your web browser and navigate to: http://localhost:5678. Complete local owner setup.</a:t>
            </a:r>
          </a:p>
          <a:p>
            <a:pPr>
              <a:defRPr sz="950" b="1">
                <a:solidFill>
                  <a:srgbClr val="2C3E50"/>
                </a:solidFill>
                <a:latin typeface="Consolas"/>
              </a:defRPr>
            </a:pPr>
            <a:r>
              <a:t>$ Open: http://localhost:5678</a:t>
            </a:r>
          </a:p>
        </p:txBody>
      </p:sp>
      <p:sp>
        <p:nvSpPr>
          <p:cNvPr id="11" name="Rounded Rectangle 10"/>
          <p:cNvSpPr/>
          <p:nvPr/>
        </p:nvSpPr>
        <p:spPr>
          <a:xfrm>
            <a:off x="731520" y="3886200"/>
            <a:ext cx="10728655" cy="1051560"/>
          </a:xfrm>
          <a:prstGeom prst="roundRect">
            <a:avLst/>
          </a:prstGeom>
          <a:solidFill>
            <a:srgbClr val="F8F9FA"/>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977640"/>
            <a:ext cx="10362895" cy="868680"/>
          </a:xfrm>
          <a:prstGeom prst="rect">
            <a:avLst/>
          </a:prstGeom>
          <a:noFill/>
        </p:spPr>
        <p:txBody>
          <a:bodyPr wrap="square">
            <a:spAutoFit/>
          </a:bodyPr>
          <a:lstStyle/>
          <a:p>
            <a:pPr>
              <a:spcAft>
                <a:spcPts val="200"/>
              </a:spcAft>
              <a:defRPr sz="1300" b="1">
                <a:solidFill>
                  <a:srgbClr val="9B59B6"/>
                </a:solidFill>
                <a:latin typeface="Segoe UI"/>
              </a:defRPr>
            </a:pPr>
            <a:r>
              <a:t>Step 3: Create Workflow</a:t>
            </a:r>
          </a:p>
          <a:p>
            <a:pPr>
              <a:defRPr sz="1050">
                <a:solidFill>
                  <a:srgbClr val="2C3E50"/>
                </a:solidFill>
                <a:latin typeface="Segoe UI"/>
              </a:defRPr>
            </a:pPr>
            <a:r>
              <a:t>Click '+ Add Workflow'. You are greeted with a visual canvas where you can drag and drop nodes.</a:t>
            </a:r>
          </a:p>
          <a:p>
            <a:pPr>
              <a:defRPr sz="950" b="1">
                <a:solidFill>
                  <a:srgbClr val="2C3E50"/>
                </a:solidFill>
                <a:latin typeface="Consolas"/>
              </a:defRPr>
            </a:pPr>
            <a:r>
              <a:t>$ Create New Workflow</a:t>
            </a:r>
          </a:p>
        </p:txBody>
      </p:sp>
      <p:sp>
        <p:nvSpPr>
          <p:cNvPr id="13" name="Rounded Rectangle 12"/>
          <p:cNvSpPr/>
          <p:nvPr/>
        </p:nvSpPr>
        <p:spPr>
          <a:xfrm>
            <a:off x="731520" y="5074920"/>
            <a:ext cx="10728655" cy="1051560"/>
          </a:xfrm>
          <a:prstGeom prst="roundRect">
            <a:avLst/>
          </a:prstGeom>
          <a:solidFill>
            <a:srgbClr val="F8F9FA"/>
          </a:solidFill>
          <a:ln w="1905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166360"/>
            <a:ext cx="10362895" cy="868680"/>
          </a:xfrm>
          <a:prstGeom prst="rect">
            <a:avLst/>
          </a:prstGeom>
          <a:noFill/>
        </p:spPr>
        <p:txBody>
          <a:bodyPr wrap="square">
            <a:spAutoFit/>
          </a:bodyPr>
          <a:lstStyle/>
          <a:p>
            <a:pPr>
              <a:spcAft>
                <a:spcPts val="200"/>
              </a:spcAft>
              <a:defRPr sz="1300" b="1">
                <a:solidFill>
                  <a:srgbClr val="F39C12"/>
                </a:solidFill>
                <a:latin typeface="Segoe UI"/>
              </a:defRPr>
            </a:pPr>
            <a:r>
              <a:t>Step 4: Add Advanced AI Agent Node</a:t>
            </a:r>
          </a:p>
          <a:p>
            <a:pPr>
              <a:defRPr sz="1050">
                <a:solidFill>
                  <a:srgbClr val="2C3E50"/>
                </a:solidFill>
                <a:latin typeface="Segoe UI"/>
              </a:defRPr>
            </a:pPr>
            <a:r>
              <a:t>Search the node panel for 'AI Agent'. Drag it onto the canvas to serve as the reasoning core.</a:t>
            </a:r>
          </a:p>
          <a:p>
            <a:pPr>
              <a:defRPr sz="950" b="1">
                <a:solidFill>
                  <a:srgbClr val="2C3E50"/>
                </a:solidFill>
                <a:latin typeface="Consolas"/>
              </a:defRPr>
            </a:pPr>
            <a:r>
              <a:t>$ Select: Advanced AI Agent Node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51560"/>
          </a:xfrm>
          <a:prstGeom prst="rect">
            <a:avLst/>
          </a:prstGeom>
          <a:noFill/>
        </p:spPr>
        <p:txBody>
          <a:bodyPr wrap="square" lIns="0" tIns="0" rIns="0" bIns="0">
            <a:spAutoFit/>
          </a:bodyPr>
          <a:lstStyle/>
          <a:p>
            <a:pPr>
              <a:spcAft>
                <a:spcPts val="200"/>
              </a:spcAft>
              <a:defRPr sz="950" b="1">
                <a:solidFill>
                  <a:srgbClr val="3498DB"/>
                </a:solidFill>
                <a:latin typeface="Segoe UI"/>
              </a:defRPr>
            </a:pPr>
            <a:r>
              <a:t>WORKFLOW ORCHESTRATION</a:t>
            </a:r>
          </a:p>
          <a:p>
            <a:pPr>
              <a:spcAft>
                <a:spcPts val="200"/>
              </a:spcAft>
              <a:defRPr sz="2100" b="1">
                <a:solidFill>
                  <a:srgbClr val="2C3E50"/>
                </a:solidFill>
                <a:latin typeface="Segoe UI"/>
              </a:defRPr>
            </a:pPr>
            <a:r>
              <a:t>Connecting n8n to Localhost Ollama (The Bridge)</a:t>
            </a:r>
          </a:p>
          <a:p>
            <a:pPr>
              <a:defRPr sz="1100">
                <a:solidFill>
                  <a:srgbClr val="7F8C8D"/>
                </a:solidFill>
                <a:latin typeface="Segoe UI"/>
              </a:defRPr>
            </a:pPr>
            <a:r>
              <a:t>Linking visual workflow automation to your local AI engine</a:t>
            </a:r>
          </a:p>
        </p:txBody>
      </p:sp>
      <p:sp>
        <p:nvSpPr>
          <p:cNvPr id="4" name="Rectangle 3"/>
          <p:cNvSpPr/>
          <p:nvPr/>
        </p:nvSpPr>
        <p:spPr>
          <a:xfrm>
            <a:off x="731520" y="1353312"/>
            <a:ext cx="10728655" cy="36576"/>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F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none" lIns="0" tIns="0" rIns="0" bIns="0">
            <a:spAutoFit/>
          </a:bodyPr>
          <a:lstStyle/>
          <a:p>
            <a:pPr>
              <a:defRPr sz="900">
                <a:solidFill>
                  <a:srgbClr val="7F8C8D"/>
                </a:solidFill>
                <a:latin typeface="Segoe UI"/>
              </a:defRPr>
            </a:pPr>
            <a:r>
              <a:t>AI &amp; Industry 4.0 Workshop  |  Prompt Frameworks &amp; Local Automation  •  Slide 31 of 35</a:t>
            </a:r>
          </a:p>
        </p:txBody>
      </p:sp>
      <p:sp>
        <p:nvSpPr>
          <p:cNvPr id="7" name="Rounded Rectangle 6"/>
          <p:cNvSpPr/>
          <p:nvPr/>
        </p:nvSpPr>
        <p:spPr>
          <a:xfrm>
            <a:off x="731520" y="1536192"/>
            <a:ext cx="5212080" cy="4617720"/>
          </a:xfrm>
          <a:prstGeom prst="roundRect">
            <a:avLst/>
          </a:prstGeom>
          <a:solidFill>
            <a:srgbClr val="F8F9FA"/>
          </a:solidFill>
          <a:ln w="1905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91640"/>
            <a:ext cx="4846320" cy="4297680"/>
          </a:xfrm>
          <a:prstGeom prst="rect">
            <a:avLst/>
          </a:prstGeom>
          <a:noFill/>
        </p:spPr>
        <p:txBody>
          <a:bodyPr wrap="square">
            <a:spAutoFit/>
          </a:bodyPr>
          <a:lstStyle/>
          <a:p>
            <a:pPr>
              <a:spcAft>
                <a:spcPts val="1000"/>
              </a:spcAft>
              <a:defRPr sz="1500" b="1">
                <a:solidFill>
                  <a:srgbClr val="3498DB"/>
                </a:solidFill>
                <a:latin typeface="Segoe UI"/>
              </a:defRPr>
            </a:pPr>
            <a:r>
              <a:t>🔌 Step-by-Step Node Configuration</a:t>
            </a:r>
          </a:p>
          <a:p>
            <a:pPr>
              <a:spcAft>
                <a:spcPts val="600"/>
              </a:spcAft>
              <a:defRPr sz="1050">
                <a:solidFill>
                  <a:srgbClr val="2C3E50"/>
                </a:solidFill>
                <a:latin typeface="Segoe UI"/>
              </a:defRPr>
            </a:pPr>
            <a:r>
              <a:t>1. In your n8n workflow canvas, locate the 'Model' input on the AI Agent node.</a:t>
            </a:r>
          </a:p>
          <a:p>
            <a:pPr>
              <a:spcAft>
                <a:spcPts val="600"/>
              </a:spcAft>
              <a:defRPr sz="1050">
                <a:solidFill>
                  <a:srgbClr val="2C3E50"/>
                </a:solidFill>
                <a:latin typeface="Segoe UI"/>
              </a:defRPr>
            </a:pPr>
            <a:r>
              <a:t>2. Drag the 'Ollama Chat Model' sub-node and connect it to the Agent.</a:t>
            </a:r>
          </a:p>
          <a:p>
            <a:pPr>
              <a:spcAft>
                <a:spcPts val="600"/>
              </a:spcAft>
              <a:defRPr sz="1050">
                <a:solidFill>
                  <a:srgbClr val="2C3E50"/>
                </a:solidFill>
                <a:latin typeface="Segoe UI"/>
              </a:defRPr>
            </a:pPr>
            <a:r>
              <a:t>3. Click 'Create New Credential' under Ollama Account.</a:t>
            </a:r>
          </a:p>
          <a:p>
            <a:pPr>
              <a:spcAft>
                <a:spcPts val="600"/>
              </a:spcAft>
              <a:defRPr sz="1050">
                <a:solidFill>
                  <a:srgbClr val="2C3E50"/>
                </a:solidFill>
                <a:latin typeface="Segoe UI"/>
              </a:defRPr>
            </a:pPr>
            <a:r>
              <a:t>4. Set Base URL: http://localhost:11434</a:t>
            </a:r>
            <a:br/>
            <a:r>
              <a:t>(Note: If n8n runs in Docker, use http://host.docker.internal:11434).</a:t>
            </a:r>
          </a:p>
          <a:p>
            <a:pPr>
              <a:spcAft>
                <a:spcPts val="600"/>
              </a:spcAft>
              <a:defRPr sz="1050">
                <a:solidFill>
                  <a:srgbClr val="2C3E50"/>
                </a:solidFill>
                <a:latin typeface="Segoe UI"/>
              </a:defRPr>
            </a:pPr>
            <a:r>
              <a:t>5. In the Model field, enter: qwen2.5:3b.</a:t>
            </a:r>
          </a:p>
          <a:p>
            <a:pPr>
              <a:spcAft>
                <a:spcPts val="600"/>
              </a:spcAft>
              <a:defRPr sz="1050">
                <a:solidFill>
                  <a:srgbClr val="2C3E50"/>
                </a:solidFill>
                <a:latin typeface="Segoe UI"/>
              </a:defRPr>
            </a:pPr>
            <a:r>
              <a:t>6. Click 'Test Connection'. You will see a green checkmark indicating successful local pairing!</a:t>
            </a:r>
          </a:p>
        </p:txBody>
      </p:sp>
      <p:sp>
        <p:nvSpPr>
          <p:cNvPr id="9" name="Rounded Rectangle 8"/>
          <p:cNvSpPr/>
          <p:nvPr/>
        </p:nvSpPr>
        <p:spPr>
          <a:xfrm>
            <a:off x="6217920" y="1536192"/>
            <a:ext cx="5212080" cy="4617720"/>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91640"/>
            <a:ext cx="4846320" cy="4297680"/>
          </a:xfrm>
          <a:prstGeom prst="rect">
            <a:avLst/>
          </a:prstGeom>
          <a:noFill/>
        </p:spPr>
        <p:txBody>
          <a:bodyPr wrap="square">
            <a:spAutoFit/>
          </a:bodyPr>
          <a:lstStyle/>
          <a:p>
            <a:pPr>
              <a:spcAft>
                <a:spcPts val="1000"/>
              </a:spcAft>
              <a:defRPr sz="1150" b="1">
                <a:solidFill>
                  <a:srgbClr val="38BDF8"/>
                </a:solidFill>
                <a:latin typeface="Segoe UI"/>
              </a:defRPr>
            </a:pPr>
            <a:r>
              <a:t>🖥️ n8n Visual Architecture</a:t>
            </a:r>
          </a:p>
          <a:p>
            <a:pPr>
              <a:defRPr sz="950">
                <a:solidFill>
                  <a:srgbClr val="D4D4D4"/>
                </a:solidFill>
                <a:latin typeface="Consolas"/>
              </a:defRPr>
            </a:pPr>
            <a:r>
              <a:t>┌───────────────────────┐</a:t>
            </a:r>
            <a:br/>
            <a:r>
              <a:t>│     Schedule Trigger   │ (Every 2 Hours)</a:t>
            </a:r>
            <a:br/>
            <a:r>
              <a:t>└───────────┬───────────┘</a:t>
            </a:r>
            <a:br/>
            <a:r>
              <a:t>            ▼</a:t>
            </a:r>
            <a:br/>
            <a:r>
              <a:t>┌───────────────────────┐</a:t>
            </a:r>
            <a:br/>
            <a:r>
              <a:t>│   HTTP Request (SSM)  │ (Fetch /blog/)</a:t>
            </a:r>
            <a:br/>
            <a:r>
              <a:t>└───────────┬───────────┘</a:t>
            </a:r>
            <a:br/>
            <a:r>
              <a:t>            ▼</a:t>
            </a:r>
            <a:br/>
            <a:r>
              <a:t>┌───────────────────────────────────────┐</a:t>
            </a:r>
            <a:br/>
            <a:r>
              <a:t>│           AI Agent Node               │</a:t>
            </a:r>
            <a:br/>
            <a:r>
              <a:t>│  ┌─────────────────────────────────┐  │</a:t>
            </a:r>
            <a:br/>
            <a:r>
              <a:t>│  │ Ollama Model (qwen2.5:3b)       │  │</a:t>
            </a:r>
            <a:br/>
            <a:r>
              <a:t>│  │ URL: http://localhost:11434     │  │</a:t>
            </a:r>
            <a:br/>
            <a:r>
              <a:t>│  └─────────────────────────────────┘  │</a:t>
            </a:r>
            <a:br/>
            <a:r>
              <a:t>└───────────────────┬───────────────────┘</a:t>
            </a:r>
            <a:br/>
            <a:r>
              <a:t>                    ▼</a:t>
            </a:r>
            <a:br/>
            <a:r>
              <a:t>┌───────────────────────┐</a:t>
            </a:r>
            <a:br/>
            <a:r>
              <a:t>│     Telegram Node     │ (Post to Student Group)</a:t>
            </a:r>
            <a:br/>
            <a:r>
              <a: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51560"/>
          </a:xfrm>
          <a:prstGeom prst="rect">
            <a:avLst/>
          </a:prstGeom>
          <a:noFill/>
        </p:spPr>
        <p:txBody>
          <a:bodyPr wrap="square" lIns="0" tIns="0" rIns="0" bIns="0">
            <a:spAutoFit/>
          </a:bodyPr>
          <a:lstStyle/>
          <a:p>
            <a:pPr>
              <a:spcAft>
                <a:spcPts val="200"/>
              </a:spcAft>
              <a:defRPr sz="950" b="1">
                <a:solidFill>
                  <a:srgbClr val="3498DB"/>
                </a:solidFill>
                <a:latin typeface="Segoe UI"/>
              </a:defRPr>
            </a:pPr>
            <a:r>
              <a:t>CAMPUS AUTOMATION USE CASES</a:t>
            </a:r>
          </a:p>
          <a:p>
            <a:pPr>
              <a:spcAft>
                <a:spcPts val="200"/>
              </a:spcAft>
              <a:defRPr sz="2100" b="1">
                <a:solidFill>
                  <a:srgbClr val="2C3E50"/>
                </a:solidFill>
                <a:latin typeface="Segoe UI"/>
              </a:defRPr>
            </a:pPr>
            <a:r>
              <a:t>Agent 1: Smart Notice Board Radar (ssmahavidyalaya.edu.in)</a:t>
            </a:r>
          </a:p>
          <a:p>
            <a:pPr>
              <a:defRPr sz="1100">
                <a:solidFill>
                  <a:srgbClr val="7F8C8D"/>
                </a:solidFill>
                <a:latin typeface="Segoe UI"/>
              </a:defRPr>
            </a:pPr>
            <a:r>
              <a:t>Campus automation for Sukumar Sengupta Mahavidyalaya</a:t>
            </a:r>
          </a:p>
        </p:txBody>
      </p:sp>
      <p:sp>
        <p:nvSpPr>
          <p:cNvPr id="4" name="Rectangle 3"/>
          <p:cNvSpPr/>
          <p:nvPr/>
        </p:nvSpPr>
        <p:spPr>
          <a:xfrm>
            <a:off x="731520" y="1353312"/>
            <a:ext cx="10728655" cy="36576"/>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F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none" lIns="0" tIns="0" rIns="0" bIns="0">
            <a:spAutoFit/>
          </a:bodyPr>
          <a:lstStyle/>
          <a:p>
            <a:pPr>
              <a:defRPr sz="900">
                <a:solidFill>
                  <a:srgbClr val="7F8C8D"/>
                </a:solidFill>
                <a:latin typeface="Segoe UI"/>
              </a:defRPr>
            </a:pPr>
            <a:r>
              <a:t>AI &amp; Industry 4.0 Workshop  |  Prompt Frameworks &amp; Local Automation  •  Slide 32 of 35</a:t>
            </a:r>
          </a:p>
        </p:txBody>
      </p:sp>
      <p:sp>
        <p:nvSpPr>
          <p:cNvPr id="7" name="Rounded Rectangle 6"/>
          <p:cNvSpPr/>
          <p:nvPr/>
        </p:nvSpPr>
        <p:spPr>
          <a:xfrm>
            <a:off x="731520" y="1508760"/>
            <a:ext cx="10728655" cy="777240"/>
          </a:xfrm>
          <a:prstGeom prst="roundRect">
            <a:avLst/>
          </a:prstGeom>
          <a:solidFill>
            <a:srgbClr val="E8F4FD"/>
          </a:solidFill>
          <a:ln w="1905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72768"/>
            <a:ext cx="10362895" cy="685800"/>
          </a:xfrm>
          <a:prstGeom prst="rect">
            <a:avLst/>
          </a:prstGeom>
          <a:noFill/>
        </p:spPr>
        <p:txBody>
          <a:bodyPr wrap="square">
            <a:spAutoFit/>
          </a:bodyPr>
          <a:lstStyle/>
          <a:p>
            <a:pPr>
              <a:spcAft>
                <a:spcPts val="200"/>
              </a:spcAft>
              <a:defRPr sz="1100" b="1">
                <a:solidFill>
                  <a:srgbClr val="2C3E50"/>
                </a:solidFill>
                <a:latin typeface="Segoe UI"/>
              </a:defRPr>
            </a:pPr>
            <a:r>
              <a:t>🎯 Objective &amp; Problem Solved</a:t>
            </a:r>
          </a:p>
          <a:p>
            <a:pPr>
              <a:defRPr sz="1000">
                <a:solidFill>
                  <a:srgbClr val="2C3E50"/>
                </a:solidFill>
                <a:latin typeface="Segoe UI"/>
              </a:defRPr>
            </a:pPr>
            <a:r>
              <a:t>Students miss crucial admission, scholarship, and administrative notices buried in the SSM college blog.</a:t>
            </a:r>
          </a:p>
        </p:txBody>
      </p:sp>
      <p:sp>
        <p:nvSpPr>
          <p:cNvPr id="9" name="Rounded Rectangle 8"/>
          <p:cNvSpPr/>
          <p:nvPr/>
        </p:nvSpPr>
        <p:spPr>
          <a:xfrm>
            <a:off x="731520" y="2423160"/>
            <a:ext cx="5212080" cy="3840480"/>
          </a:xfrm>
          <a:prstGeom prst="roundRect">
            <a:avLst/>
          </a:prstGeom>
          <a:solidFill>
            <a:srgbClr val="F8F9FA"/>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514600"/>
            <a:ext cx="4846320" cy="3657600"/>
          </a:xfrm>
          <a:prstGeom prst="rect">
            <a:avLst/>
          </a:prstGeom>
          <a:noFill/>
        </p:spPr>
        <p:txBody>
          <a:bodyPr wrap="square">
            <a:spAutoFit/>
          </a:bodyPr>
          <a:lstStyle/>
          <a:p>
            <a:pPr>
              <a:spcAft>
                <a:spcPts val="600"/>
              </a:spcAft>
              <a:defRPr sz="1200" b="1">
                <a:solidFill>
                  <a:srgbClr val="9B59B6"/>
                </a:solidFill>
                <a:latin typeface="Segoe UI"/>
              </a:defRPr>
            </a:pPr>
            <a:r>
              <a:t>⚙️ n8n Pipeline &amp; Agent Prompt</a:t>
            </a:r>
          </a:p>
          <a:p>
            <a:pPr>
              <a:defRPr sz="1000" b="1">
                <a:solidFill>
                  <a:srgbClr val="2C3E50"/>
                </a:solidFill>
                <a:latin typeface="Segoe UI"/>
              </a:defRPr>
            </a:pPr>
            <a:r>
              <a:t>Pipeline Nodes:</a:t>
            </a:r>
          </a:p>
          <a:p>
            <a:pPr>
              <a:spcAft>
                <a:spcPts val="600"/>
              </a:spcAft>
              <a:defRPr sz="950">
                <a:solidFill>
                  <a:srgbClr val="7F8C8D"/>
                </a:solidFill>
                <a:latin typeface="Segoe UI"/>
              </a:defRPr>
            </a:pPr>
            <a:r>
              <a:t>Schedule Trigger (Every 2h) ➔ HTTP Request (ssmahavidyalaya.edu.in/blog/) ➔ HTML Extract (Post titles &amp; links) ➔ AI Agent (Ollama qwen2.5:3b) ➔ Telegram Node</a:t>
            </a:r>
          </a:p>
          <a:p>
            <a:pPr>
              <a:defRPr sz="1000" b="1">
                <a:solidFill>
                  <a:srgbClr val="2C3E50"/>
                </a:solidFill>
                <a:latin typeface="Segoe UI"/>
              </a:defRPr>
            </a:pPr>
            <a:r>
              <a:t>Ollama System Prompt:</a:t>
            </a:r>
          </a:p>
          <a:p>
            <a:pPr>
              <a:defRPr sz="900">
                <a:solidFill>
                  <a:srgbClr val="2C3E50"/>
                </a:solidFill>
                <a:latin typeface="Consolas"/>
              </a:defRPr>
            </a:pPr>
            <a:r>
              <a:t>Act as an academic notice triage bot.</a:t>
            </a:r>
            <a:br/>
            <a:r>
              <a:t>Input: Scraped blog post HTML snippet.</a:t>
            </a:r>
            <a:br/>
            <a:r>
              <a:t>Task: Extract:</a:t>
            </a:r>
            <a:br/>
            <a:r>
              <a:t>1. Notice Title</a:t>
            </a:r>
            <a:br/>
            <a:r>
              <a:t>2. Category: [Admissions / Examination / Scholarship / General]</a:t>
            </a:r>
            <a:br/>
            <a:r>
              <a:t>3. Plain-language 2-sentence student summary</a:t>
            </a:r>
            <a:br/>
            <a:r>
              <a:t>4. Action Deadline (if mentioned)</a:t>
            </a:r>
            <a:br/>
            <a:r>
              <a:t>Output format: Strict JSON.</a:t>
            </a:r>
          </a:p>
        </p:txBody>
      </p:sp>
      <p:sp>
        <p:nvSpPr>
          <p:cNvPr id="11" name="Rounded Rectangle 10"/>
          <p:cNvSpPr/>
          <p:nvPr/>
        </p:nvSpPr>
        <p:spPr>
          <a:xfrm>
            <a:off x="6217920" y="2423160"/>
            <a:ext cx="5212080" cy="3840480"/>
          </a:xfrm>
          <a:prstGeom prst="roundRect">
            <a:avLst/>
          </a:prstGeom>
          <a:solidFill>
            <a:srgbClr val="F8F9FA"/>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514600"/>
            <a:ext cx="4846320" cy="3657600"/>
          </a:xfrm>
          <a:prstGeom prst="rect">
            <a:avLst/>
          </a:prstGeom>
          <a:noFill/>
        </p:spPr>
        <p:txBody>
          <a:bodyPr wrap="square">
            <a:spAutoFit/>
          </a:bodyPr>
          <a:lstStyle/>
          <a:p>
            <a:pPr>
              <a:spcAft>
                <a:spcPts val="800"/>
              </a:spcAft>
              <a:defRPr sz="1200" b="1">
                <a:solidFill>
                  <a:srgbClr val="27AE60"/>
                </a:solidFill>
                <a:latin typeface="Segoe UI"/>
              </a:defRPr>
            </a:pPr>
            <a:r>
              <a:t>📱 Student Output Broadcast (Telegram / WhatsApp)</a:t>
            </a:r>
          </a:p>
          <a:p>
            <a:pPr>
              <a:defRPr sz="1000">
                <a:solidFill>
                  <a:srgbClr val="2C3E50"/>
                </a:solidFill>
                <a:latin typeface="Segoe UI"/>
              </a:defRPr>
            </a:pPr>
            <a:r>
              <a:t>📢 SSM CAMPUS RADAR: NEW NOTICE!</a:t>
            </a:r>
            <a:br/>
            <a:br/>
            <a:r>
              <a:t>📌 Title: Swami Vivekananda Merit-cum-Means (SVMCM) Scholarship Renewal</a:t>
            </a:r>
            <a:br/>
            <a:r>
              <a:t>📂 Category: Scholarship</a:t>
            </a:r>
            <a:br/>
            <a:r>
              <a:t>⏰ Deadline: October 25, 2026</a:t>
            </a:r>
            <a:br/>
            <a:br/>
            <a:r>
              <a:t>Summary:</a:t>
            </a:r>
            <a:br/>
            <a:r>
              <a:t>All eligible 2nd and 3rd year students must complete online verification at the college office with income certificates before Oct 25.</a:t>
            </a:r>
            <a:br/>
            <a:br/>
            <a:r>
              <a:t>🔗 Direct Link: ssmahavidyalaya.edu.in/blog/svmcm-2026/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51560"/>
          </a:xfrm>
          <a:prstGeom prst="rect">
            <a:avLst/>
          </a:prstGeom>
          <a:noFill/>
        </p:spPr>
        <p:txBody>
          <a:bodyPr wrap="square" lIns="0" tIns="0" rIns="0" bIns="0">
            <a:spAutoFit/>
          </a:bodyPr>
          <a:lstStyle/>
          <a:p>
            <a:pPr>
              <a:spcAft>
                <a:spcPts val="200"/>
              </a:spcAft>
              <a:defRPr sz="950" b="1">
                <a:solidFill>
                  <a:srgbClr val="3498DB"/>
                </a:solidFill>
                <a:latin typeface="Segoe UI"/>
              </a:defRPr>
            </a:pPr>
            <a:r>
              <a:t>CAMPUS AUTOMATION USE CASES</a:t>
            </a:r>
          </a:p>
          <a:p>
            <a:pPr>
              <a:spcAft>
                <a:spcPts val="200"/>
              </a:spcAft>
              <a:defRPr sz="2100" b="1">
                <a:solidFill>
                  <a:srgbClr val="2C3E50"/>
                </a:solidFill>
                <a:latin typeface="Segoe UI"/>
              </a:defRPr>
            </a:pPr>
            <a:r>
              <a:t>Agent 2: Holiday &amp; Campus Closure Tracker (ssmahavidyalaya.edu.in)</a:t>
            </a:r>
          </a:p>
          <a:p>
            <a:pPr>
              <a:defRPr sz="1100">
                <a:solidFill>
                  <a:srgbClr val="7F8C8D"/>
                </a:solidFill>
                <a:latin typeface="Segoe UI"/>
              </a:defRPr>
            </a:pPr>
            <a:r>
              <a:t>Campus automation for Sukumar Sengupta Mahavidyalaya</a:t>
            </a:r>
          </a:p>
        </p:txBody>
      </p:sp>
      <p:sp>
        <p:nvSpPr>
          <p:cNvPr id="4" name="Rectangle 3"/>
          <p:cNvSpPr/>
          <p:nvPr/>
        </p:nvSpPr>
        <p:spPr>
          <a:xfrm>
            <a:off x="731520" y="1353312"/>
            <a:ext cx="10728655" cy="36576"/>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F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none" lIns="0" tIns="0" rIns="0" bIns="0">
            <a:spAutoFit/>
          </a:bodyPr>
          <a:lstStyle/>
          <a:p>
            <a:pPr>
              <a:defRPr sz="900">
                <a:solidFill>
                  <a:srgbClr val="7F8C8D"/>
                </a:solidFill>
                <a:latin typeface="Segoe UI"/>
              </a:defRPr>
            </a:pPr>
            <a:r>
              <a:t>AI &amp; Industry 4.0 Workshop  |  Prompt Frameworks &amp; Local Automation  •  Slide 33 of 35</a:t>
            </a:r>
          </a:p>
        </p:txBody>
      </p:sp>
      <p:sp>
        <p:nvSpPr>
          <p:cNvPr id="7" name="Rounded Rectangle 6"/>
          <p:cNvSpPr/>
          <p:nvPr/>
        </p:nvSpPr>
        <p:spPr>
          <a:xfrm>
            <a:off x="731520" y="1508760"/>
            <a:ext cx="10728655" cy="777240"/>
          </a:xfrm>
          <a:prstGeom prst="roundRect">
            <a:avLst/>
          </a:prstGeom>
          <a:solidFill>
            <a:srgbClr val="E8F4FD"/>
          </a:solidFill>
          <a:ln w="1905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72768"/>
            <a:ext cx="10362895" cy="685800"/>
          </a:xfrm>
          <a:prstGeom prst="rect">
            <a:avLst/>
          </a:prstGeom>
          <a:noFill/>
        </p:spPr>
        <p:txBody>
          <a:bodyPr wrap="square">
            <a:spAutoFit/>
          </a:bodyPr>
          <a:lstStyle/>
          <a:p>
            <a:pPr>
              <a:spcAft>
                <a:spcPts val="200"/>
              </a:spcAft>
              <a:defRPr sz="1100" b="1">
                <a:solidFill>
                  <a:srgbClr val="2C3E50"/>
                </a:solidFill>
                <a:latin typeface="Segoe UI"/>
              </a:defRPr>
            </a:pPr>
            <a:r>
              <a:t>🎯 Objective &amp; Problem Solved</a:t>
            </a:r>
          </a:p>
          <a:p>
            <a:pPr>
              <a:defRPr sz="1000">
                <a:solidFill>
                  <a:srgbClr val="2C3E50"/>
                </a:solidFill>
                <a:latin typeface="Segoe UI"/>
              </a:defRPr>
            </a:pPr>
            <a:r>
              <a:t>Sudden campus closures, festive Puja holidays, or semester break announcements cause travel confusion.</a:t>
            </a:r>
          </a:p>
        </p:txBody>
      </p:sp>
      <p:sp>
        <p:nvSpPr>
          <p:cNvPr id="9" name="Rounded Rectangle 8"/>
          <p:cNvSpPr/>
          <p:nvPr/>
        </p:nvSpPr>
        <p:spPr>
          <a:xfrm>
            <a:off x="731520" y="2423160"/>
            <a:ext cx="5212080" cy="3840480"/>
          </a:xfrm>
          <a:prstGeom prst="roundRect">
            <a:avLst/>
          </a:prstGeom>
          <a:solidFill>
            <a:srgbClr val="F8F9FA"/>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514600"/>
            <a:ext cx="4846320" cy="3657600"/>
          </a:xfrm>
          <a:prstGeom prst="rect">
            <a:avLst/>
          </a:prstGeom>
          <a:noFill/>
        </p:spPr>
        <p:txBody>
          <a:bodyPr wrap="square">
            <a:spAutoFit/>
          </a:bodyPr>
          <a:lstStyle/>
          <a:p>
            <a:pPr>
              <a:spcAft>
                <a:spcPts val="600"/>
              </a:spcAft>
              <a:defRPr sz="1200" b="1">
                <a:solidFill>
                  <a:srgbClr val="9B59B6"/>
                </a:solidFill>
                <a:latin typeface="Segoe UI"/>
              </a:defRPr>
            </a:pPr>
            <a:r>
              <a:t>⚙️ n8n Pipeline &amp; Agent Prompt</a:t>
            </a:r>
          </a:p>
          <a:p>
            <a:pPr>
              <a:defRPr sz="1000" b="1">
                <a:solidFill>
                  <a:srgbClr val="2C3E50"/>
                </a:solidFill>
                <a:latin typeface="Segoe UI"/>
              </a:defRPr>
            </a:pPr>
            <a:r>
              <a:t>Pipeline Nodes:</a:t>
            </a:r>
          </a:p>
          <a:p>
            <a:pPr>
              <a:spcAft>
                <a:spcPts val="600"/>
              </a:spcAft>
              <a:defRPr sz="950">
                <a:solidFill>
                  <a:srgbClr val="7F8C8D"/>
                </a:solidFill>
                <a:latin typeface="Segoe UI"/>
              </a:defRPr>
            </a:pPr>
            <a:r>
              <a:t>RSS / Web Monitor ➔ Filter node (Keywords: 'Holiday', 'Closure', 'Vacation') ➔ Local Ollama Parser ➔ Google Calendar Node (Add Event) ➔ WhatsApp Webhook</a:t>
            </a:r>
          </a:p>
          <a:p>
            <a:pPr>
              <a:defRPr sz="1000" b="1">
                <a:solidFill>
                  <a:srgbClr val="2C3E50"/>
                </a:solidFill>
                <a:latin typeface="Segoe UI"/>
              </a:defRPr>
            </a:pPr>
            <a:r>
              <a:t>Ollama System Prompt:</a:t>
            </a:r>
          </a:p>
          <a:p>
            <a:pPr>
              <a:defRPr sz="900">
                <a:solidFill>
                  <a:srgbClr val="2C3E50"/>
                </a:solidFill>
                <a:latin typeface="Consolas"/>
              </a:defRPr>
            </a:pPr>
            <a:r>
              <a:t>Act as a calendar parser for Sukumar Sengupta Mahavidyalaya.</a:t>
            </a:r>
            <a:br/>
            <a:r>
              <a:t>Analyze the vacation notice text.</a:t>
            </a:r>
            <a:br/>
            <a:r>
              <a:t>Extract:</a:t>
            </a:r>
            <a:br/>
            <a:r>
              <a:t>- Event Name (e.g. Durga Puja Vacation)</a:t>
            </a:r>
            <a:br/>
            <a:r>
              <a:t>- Closure Start Date</a:t>
            </a:r>
            <a:br/>
            <a:r>
              <a:t>- Reopening Date</a:t>
            </a:r>
            <a:br/>
            <a:r>
              <a:t>- College Administrative Contact during emergency</a:t>
            </a:r>
            <a:br/>
            <a:r>
              <a:t>Output as structured JSON.</a:t>
            </a:r>
          </a:p>
        </p:txBody>
      </p:sp>
      <p:sp>
        <p:nvSpPr>
          <p:cNvPr id="11" name="Rounded Rectangle 10"/>
          <p:cNvSpPr/>
          <p:nvPr/>
        </p:nvSpPr>
        <p:spPr>
          <a:xfrm>
            <a:off x="6217920" y="2423160"/>
            <a:ext cx="5212080" cy="3840480"/>
          </a:xfrm>
          <a:prstGeom prst="roundRect">
            <a:avLst/>
          </a:prstGeom>
          <a:solidFill>
            <a:srgbClr val="F8F9FA"/>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514600"/>
            <a:ext cx="4846320" cy="3657600"/>
          </a:xfrm>
          <a:prstGeom prst="rect">
            <a:avLst/>
          </a:prstGeom>
          <a:noFill/>
        </p:spPr>
        <p:txBody>
          <a:bodyPr wrap="square">
            <a:spAutoFit/>
          </a:bodyPr>
          <a:lstStyle/>
          <a:p>
            <a:pPr>
              <a:spcAft>
                <a:spcPts val="800"/>
              </a:spcAft>
              <a:defRPr sz="1200" b="1">
                <a:solidFill>
                  <a:srgbClr val="27AE60"/>
                </a:solidFill>
                <a:latin typeface="Segoe UI"/>
              </a:defRPr>
            </a:pPr>
            <a:r>
              <a:t>📱 Student Output Broadcast (Telegram / WhatsApp)</a:t>
            </a:r>
          </a:p>
          <a:p>
            <a:pPr>
              <a:defRPr sz="1000">
                <a:solidFill>
                  <a:srgbClr val="2C3E50"/>
                </a:solidFill>
                <a:latin typeface="Segoe UI"/>
              </a:defRPr>
            </a:pPr>
            <a:r>
              <a:t>🗓️ CAMPUS CLOSURE ALERT (Synced to Calendar!)</a:t>
            </a:r>
            <a:br/>
            <a:br/>
            <a:r>
              <a:t>🏖️ Event: Durga Puja &amp; Diwali Vacation 2026</a:t>
            </a:r>
            <a:br/>
            <a:r>
              <a:t>📅 Closed From: October 18, 2026</a:t>
            </a:r>
            <a:br/>
            <a:r>
              <a:t>🏫 Reopening Date: November 4, 2026</a:t>
            </a:r>
            <a:br/>
            <a:br/>
            <a:r>
              <a:t>✅ Action Taken:</a:t>
            </a:r>
            <a:br/>
            <a:r>
              <a:t>This break has been automatically scheduled in your Google Calendar with a reminder on Nov 3.</a:t>
            </a:r>
            <a:br/>
            <a:br/>
            <a:r>
              <a:t>Enjoy your festive break with family! ✨</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51560"/>
          </a:xfrm>
          <a:prstGeom prst="rect">
            <a:avLst/>
          </a:prstGeom>
          <a:noFill/>
        </p:spPr>
        <p:txBody>
          <a:bodyPr wrap="square" lIns="0" tIns="0" rIns="0" bIns="0">
            <a:spAutoFit/>
          </a:bodyPr>
          <a:lstStyle/>
          <a:p>
            <a:pPr>
              <a:spcAft>
                <a:spcPts val="200"/>
              </a:spcAft>
              <a:defRPr sz="950" b="1">
                <a:solidFill>
                  <a:srgbClr val="3498DB"/>
                </a:solidFill>
                <a:latin typeface="Segoe UI"/>
              </a:defRPr>
            </a:pPr>
            <a:r>
              <a:t>CAMPUS AUTOMATION USE CASES</a:t>
            </a:r>
          </a:p>
          <a:p>
            <a:pPr>
              <a:spcAft>
                <a:spcPts val="200"/>
              </a:spcAft>
              <a:defRPr sz="2100" b="1">
                <a:solidFill>
                  <a:srgbClr val="2C3E50"/>
                </a:solidFill>
                <a:latin typeface="Segoe UI"/>
              </a:defRPr>
            </a:pPr>
            <a:r>
              <a:t>Agent 3: Exam Form Fill-up &amp; Routine Tracker (ssmahavidyalaya.edu.in)</a:t>
            </a:r>
          </a:p>
          <a:p>
            <a:pPr>
              <a:defRPr sz="1100">
                <a:solidFill>
                  <a:srgbClr val="7F8C8D"/>
                </a:solidFill>
                <a:latin typeface="Segoe UI"/>
              </a:defRPr>
            </a:pPr>
            <a:r>
              <a:t>Campus automation for Sukumar Sengupta Mahavidyalaya</a:t>
            </a:r>
          </a:p>
        </p:txBody>
      </p:sp>
      <p:sp>
        <p:nvSpPr>
          <p:cNvPr id="4" name="Rectangle 3"/>
          <p:cNvSpPr/>
          <p:nvPr/>
        </p:nvSpPr>
        <p:spPr>
          <a:xfrm>
            <a:off x="731520" y="1353312"/>
            <a:ext cx="10728655" cy="36576"/>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13716"/>
          </a:xfrm>
          <a:prstGeom prst="rect">
            <a:avLst/>
          </a:prstGeom>
          <a:solidFill>
            <a:srgbClr val="DF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320040"/>
          </a:xfrm>
          <a:prstGeom prst="rect">
            <a:avLst/>
          </a:prstGeom>
          <a:noFill/>
        </p:spPr>
        <p:txBody>
          <a:bodyPr wrap="none" lIns="0" tIns="0" rIns="0" bIns="0">
            <a:spAutoFit/>
          </a:bodyPr>
          <a:lstStyle/>
          <a:p>
            <a:pPr>
              <a:defRPr sz="900">
                <a:solidFill>
                  <a:srgbClr val="7F8C8D"/>
                </a:solidFill>
                <a:latin typeface="Segoe UI"/>
              </a:defRPr>
            </a:pPr>
            <a:r>
              <a:t>AI &amp; Industry 4.0 Workshop  |  Prompt Frameworks &amp; Local Automation  •  Slide 34 of 35</a:t>
            </a:r>
          </a:p>
        </p:txBody>
      </p:sp>
      <p:sp>
        <p:nvSpPr>
          <p:cNvPr id="7" name="Rounded Rectangle 6"/>
          <p:cNvSpPr/>
          <p:nvPr/>
        </p:nvSpPr>
        <p:spPr>
          <a:xfrm>
            <a:off x="731520" y="1508760"/>
            <a:ext cx="10728655" cy="777240"/>
          </a:xfrm>
          <a:prstGeom prst="roundRect">
            <a:avLst/>
          </a:prstGeom>
          <a:solidFill>
            <a:srgbClr val="E8F4FD"/>
          </a:solidFill>
          <a:ln w="1905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72768"/>
            <a:ext cx="10362895" cy="685800"/>
          </a:xfrm>
          <a:prstGeom prst="rect">
            <a:avLst/>
          </a:prstGeom>
          <a:noFill/>
        </p:spPr>
        <p:txBody>
          <a:bodyPr wrap="square">
            <a:spAutoFit/>
          </a:bodyPr>
          <a:lstStyle/>
          <a:p>
            <a:pPr>
              <a:spcAft>
                <a:spcPts val="200"/>
              </a:spcAft>
              <a:defRPr sz="1100" b="1">
                <a:solidFill>
                  <a:srgbClr val="2C3E50"/>
                </a:solidFill>
                <a:latin typeface="Segoe UI"/>
              </a:defRPr>
            </a:pPr>
            <a:r>
              <a:t>🎯 Objective &amp; Problem Solved</a:t>
            </a:r>
          </a:p>
          <a:p>
            <a:pPr>
              <a:defRPr sz="1000">
                <a:solidFill>
                  <a:srgbClr val="2C3E50"/>
                </a:solidFill>
                <a:latin typeface="Segoe UI"/>
              </a:defRPr>
            </a:pPr>
            <a:r>
              <a:t>Missing undergraduate CBCS / NEP semester examination form submission dates leads to heavy late fines.</a:t>
            </a:r>
          </a:p>
        </p:txBody>
      </p:sp>
      <p:sp>
        <p:nvSpPr>
          <p:cNvPr id="9" name="Rounded Rectangle 8"/>
          <p:cNvSpPr/>
          <p:nvPr/>
        </p:nvSpPr>
        <p:spPr>
          <a:xfrm>
            <a:off x="731520" y="2423160"/>
            <a:ext cx="5212080" cy="3840480"/>
          </a:xfrm>
          <a:prstGeom prst="roundRect">
            <a:avLst/>
          </a:prstGeom>
          <a:solidFill>
            <a:srgbClr val="F8F9FA"/>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514600"/>
            <a:ext cx="4846320" cy="3657600"/>
          </a:xfrm>
          <a:prstGeom prst="rect">
            <a:avLst/>
          </a:prstGeom>
          <a:noFill/>
        </p:spPr>
        <p:txBody>
          <a:bodyPr wrap="square">
            <a:spAutoFit/>
          </a:bodyPr>
          <a:lstStyle/>
          <a:p>
            <a:pPr>
              <a:spcAft>
                <a:spcPts val="600"/>
              </a:spcAft>
              <a:defRPr sz="1200" b="1">
                <a:solidFill>
                  <a:srgbClr val="9B59B6"/>
                </a:solidFill>
                <a:latin typeface="Segoe UI"/>
              </a:defRPr>
            </a:pPr>
            <a:r>
              <a:t>⚙️ n8n Pipeline &amp; Agent Prompt</a:t>
            </a:r>
          </a:p>
          <a:p>
            <a:pPr>
              <a:defRPr sz="1000" b="1">
                <a:solidFill>
                  <a:srgbClr val="2C3E50"/>
                </a:solidFill>
                <a:latin typeface="Segoe UI"/>
              </a:defRPr>
            </a:pPr>
            <a:r>
              <a:t>Pipeline Nodes:</a:t>
            </a:r>
          </a:p>
          <a:p>
            <a:pPr>
              <a:spcAft>
                <a:spcPts val="600"/>
              </a:spcAft>
              <a:defRPr sz="950">
                <a:solidFill>
                  <a:srgbClr val="7F8C8D"/>
                </a:solidFill>
                <a:latin typeface="Segoe UI"/>
              </a:defRPr>
            </a:pPr>
            <a:r>
              <a:t>HTTP Scraper ➔ Ollama AI Agent (Classify Semester &amp; Fee Window) ➔ If Node (Days Remaining &lt;= 2) ➔ High Priority Telegram Blast</a:t>
            </a:r>
          </a:p>
          <a:p>
            <a:pPr>
              <a:defRPr sz="1000" b="1">
                <a:solidFill>
                  <a:srgbClr val="2C3E50"/>
                </a:solidFill>
                <a:latin typeface="Segoe UI"/>
              </a:defRPr>
            </a:pPr>
            <a:r>
              <a:t>Ollama System Prompt:</a:t>
            </a:r>
          </a:p>
          <a:p>
            <a:pPr>
              <a:defRPr sz="900">
                <a:solidFill>
                  <a:srgbClr val="2C3E50"/>
                </a:solidFill>
                <a:latin typeface="Consolas"/>
              </a:defRPr>
            </a:pPr>
            <a:r>
              <a:t>Act as an exam officer.</a:t>
            </a:r>
            <a:br/>
            <a:r>
              <a:t>Read the Vidyasagar University form fill-up notification.</a:t>
            </a:r>
            <a:br/>
            <a:r>
              <a:t>Extract:</a:t>
            </a:r>
            <a:br/>
            <a:r>
              <a:t>- Target Semesters (e.g. 2nd, 4th, 6th Sem B.A./B.Sc./B.Com)</a:t>
            </a:r>
            <a:br/>
            <a:r>
              <a:t>- Regular Submission Window</a:t>
            </a:r>
            <a:br/>
            <a:r>
              <a:t>- Late Fee Window &amp; Amount</a:t>
            </a:r>
            <a:br/>
            <a:r>
              <a:t>- Required Verification Documents</a:t>
            </a:r>
            <a:br/>
            <a:r>
              <a:t>Format with bold warnings for tight deadlines.</a:t>
            </a:r>
          </a:p>
        </p:txBody>
      </p:sp>
      <p:sp>
        <p:nvSpPr>
          <p:cNvPr id="11" name="Rounded Rectangle 10"/>
          <p:cNvSpPr/>
          <p:nvPr/>
        </p:nvSpPr>
        <p:spPr>
          <a:xfrm>
            <a:off x="6217920" y="2423160"/>
            <a:ext cx="5212080" cy="3840480"/>
          </a:xfrm>
          <a:prstGeom prst="roundRect">
            <a:avLst/>
          </a:prstGeom>
          <a:solidFill>
            <a:srgbClr val="F8F9FA"/>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514600"/>
            <a:ext cx="4846320" cy="3657600"/>
          </a:xfrm>
          <a:prstGeom prst="rect">
            <a:avLst/>
          </a:prstGeom>
          <a:noFill/>
        </p:spPr>
        <p:txBody>
          <a:bodyPr wrap="square">
            <a:spAutoFit/>
          </a:bodyPr>
          <a:lstStyle/>
          <a:p>
            <a:pPr>
              <a:spcAft>
                <a:spcPts val="800"/>
              </a:spcAft>
              <a:defRPr sz="1200" b="1">
                <a:solidFill>
                  <a:srgbClr val="27AE60"/>
                </a:solidFill>
                <a:latin typeface="Segoe UI"/>
              </a:defRPr>
            </a:pPr>
            <a:r>
              <a:t>📱 Student Output Broadcast (Telegram / WhatsApp)</a:t>
            </a:r>
          </a:p>
          <a:p>
            <a:pPr>
              <a:defRPr sz="1000">
                <a:solidFill>
                  <a:srgbClr val="2C3E50"/>
                </a:solidFill>
                <a:latin typeface="Segoe UI"/>
              </a:defRPr>
            </a:pPr>
            <a:r>
              <a:t>⚠️ URGENT: VU SEMESTER EXAM FORM FILL-UP!</a:t>
            </a:r>
            <a:br/>
            <a:br/>
            <a:r>
              <a:t>🎓 Cohort: B.A. &amp; B.Sc. Semester IV (CBCS / NEP)</a:t>
            </a:r>
            <a:br/>
            <a:r>
              <a:t>⏳ Regular Form Fill-up: Oct 10 to Oct 16</a:t>
            </a:r>
            <a:br/>
            <a:r>
              <a:t>🚨 Late Fee Window: Oct 17 to Oct 19 (+ Rs 200)</a:t>
            </a:r>
            <a:br/>
            <a:br/>
            <a:r>
              <a:t>Required Checklist:</a:t>
            </a:r>
            <a:br/>
            <a:r>
              <a:t>1. Semester III Admit Card copy</a:t>
            </a:r>
            <a:br/>
            <a:r>
              <a:t>2. Online payment receipt of exam fees</a:t>
            </a:r>
            <a:br/>
            <a:r>
              <a:t>3. 2 passport size photographs</a:t>
            </a:r>
            <a:br/>
            <a:br/>
            <a:r>
              <a:t>Submit hardcopy to College Counter 2 before 3 PM!</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188720"/>
            <a:ext cx="10362895" cy="4754880"/>
          </a:xfrm>
          <a:prstGeom prst="rect">
            <a:avLst/>
          </a:prstGeom>
          <a:noFill/>
        </p:spPr>
        <p:txBody>
          <a:bodyPr wrap="square">
            <a:spAutoFit/>
          </a:bodyPr>
          <a:lstStyle/>
          <a:p>
            <a:pPr algn="ctr">
              <a:spcAft>
                <a:spcPts val="1400"/>
              </a:spcAft>
              <a:defRPr sz="2800" b="1">
                <a:solidFill>
                  <a:srgbClr val="FFFFFF"/>
                </a:solidFill>
                <a:latin typeface="Segoe UI"/>
              </a:defRPr>
            </a:pPr>
            <a:r>
              <a:t>YOU ARE NOW INDUSTRY 4.0 INNOVATORS! 🚀</a:t>
            </a:r>
          </a:p>
          <a:p>
            <a:pPr algn="ctr">
              <a:spcAft>
                <a:spcPts val="1600"/>
              </a:spcAft>
              <a:defRPr sz="1600" b="1">
                <a:solidFill>
                  <a:srgbClr val="3498DB"/>
                </a:solidFill>
                <a:latin typeface="Segoe UI"/>
              </a:defRPr>
            </a:pPr>
            <a:r>
              <a:t>Your 15-Minute Hands-On Challenge:</a:t>
            </a:r>
          </a:p>
          <a:p>
            <a:pPr algn="ctr">
              <a:spcAft>
                <a:spcPts val="1000"/>
              </a:spcAft>
              <a:defRPr sz="1300">
                <a:solidFill>
                  <a:srgbClr val="ECF0F1"/>
                </a:solidFill>
                <a:latin typeface="Segoe UI"/>
              </a:defRPr>
            </a:pPr>
            <a:r>
              <a:t>1. Download Ollama from ollama.com and run 'ollama run qwen2.5:3b' in your terminal.</a:t>
            </a:r>
          </a:p>
          <a:p>
            <a:pPr algn="ctr">
              <a:spcAft>
                <a:spcPts val="1000"/>
              </a:spcAft>
              <a:defRPr sz="1300">
                <a:solidFill>
                  <a:srgbClr val="ECF0F1"/>
                </a:solidFill>
                <a:latin typeface="Segoe UI"/>
              </a:defRPr>
            </a:pPr>
            <a:r>
              <a:t>2. Launch n8n with 'npx n8n' and navigate to http://localhost:5678.</a:t>
            </a:r>
          </a:p>
          <a:p>
            <a:pPr algn="ctr">
              <a:spcAft>
                <a:spcPts val="1000"/>
              </a:spcAft>
              <a:defRPr sz="1300">
                <a:solidFill>
                  <a:srgbClr val="ECF0F1"/>
                </a:solidFill>
                <a:latin typeface="Segoe UI"/>
              </a:defRPr>
            </a:pPr>
            <a:r>
              <a:t>3. Build Agent 1: Scrape the SSM blog (ssmahavidyalaya.edu.in/blog/) and parse the latest post.</a:t>
            </a:r>
          </a:p>
          <a:p>
            <a:pPr algn="ctr">
              <a:spcAft>
                <a:spcPts val="1000"/>
              </a:spcAft>
              <a:defRPr sz="1300">
                <a:solidFill>
                  <a:srgbClr val="ECF0F1"/>
                </a:solidFill>
                <a:latin typeface="Segoe UI"/>
              </a:defRPr>
            </a:pPr>
            <a:r>
              <a:t>4. Connect your free Telegram bot token to broadcast your first automated notice!</a:t>
            </a:r>
          </a:p>
          <a:p>
            <a:pPr algn="ctr">
              <a:defRPr sz="1200">
                <a:solidFill>
                  <a:srgbClr val="BDC3C7"/>
                </a:solidFill>
                <a:latin typeface="Segoe UI"/>
              </a:defRPr>
            </a:pPr>
            <a:br/>
            <a:r>
              <a:t>Zero Cloud Subscriptions  •  100% Privacy  •  Infinite Possibilities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